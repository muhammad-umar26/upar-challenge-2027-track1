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331cb21-0ab6-b526-8b24-2074dff20a3d}">
          <p14:sldIdLst>
            <p14:sldId id="256"/>
            <p14:sldId id="257"/>
          </p14:sldIdLst>
        </p14:section>
        <p14:section name="Method" id="{3e5e099a-8d76-e18d-7a0c-6872ef8ceb49}">
          <p14:sldIdLst>
            <p14:sldId id="258"/>
            <p14:sldId id="259"/>
          </p14:sldIdLst>
        </p14:section>
        <p14:section name="Results" id="{37750a6c-2a1c-c7b2-7201-082042c4e58a}">
          <p14:sldIdLst>
            <p14:sldId id="260"/>
            <p14:sldId id="261"/>
          </p14:sldIdLst>
        </p14:section>
        <p14:section name="Wrap-up" id="{a09de7a8-052e-3f16-2985-f19ef21b6c5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Challenge_Avg on held-out PETA</c:v>
                </c:pt>
              </c:strCache>
            </c:strRef>
          </c:tx>
          <c:spPr>
            <a:solidFill>
              <a:srgbClr val="C8D6DC"/>
            </a:solidFill>
            <a:effectLst/>
          </c:spPr>
          <c:invertIfNegative val="0"/>
          <c:dLbls>
            <c:numFmt formatCode="0.0000" sourceLinked="0"/>
            <c:txPr>
              <a:bodyPr/>
              <a:lstStyle/>
              <a:p>
                <a:pPr>
                  <a:defRPr b="0" i="0" strike="noStrike" sz="14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C8D6DC"/>
              </a:solidFill>
              <a:effectLst/>
            </c:spPr>
          </c:dPt>
          <c:dPt>
            <c:idx val="1"/>
            <c:invertIfNegative val="0"/>
            <c:bubble3D val="0"/>
            <c:spPr>
              <a:solidFill>
                <a:srgbClr val="C8D6DC"/>
              </a:solidFill>
              <a:effectLst/>
            </c:spPr>
          </c:dPt>
          <c:dPt>
            <c:idx val="2"/>
            <c:invertIfNegative val="0"/>
            <c:bubble3D val="0"/>
            <c:spPr>
              <a:solidFill>
                <a:srgbClr val="C8D6DC"/>
              </a:solidFill>
              <a:effectLst/>
            </c:spPr>
          </c:dPt>
          <c:dPt>
            <c:idx val="3"/>
            <c:invertIfNegative val="0"/>
            <c:bubble3D val="0"/>
            <c:spPr>
              <a:solidFill>
                <a:srgbClr val="0E7C86"/>
              </a:solidFill>
              <a:effectLst/>
            </c:spPr>
          </c:dPt>
          <c:dPt>
            <c:idx val="4"/>
            <c:invertIfNegative val="0"/>
            <c:bubble3D val="0"/>
            <c:spPr>
              <a:solidFill>
                <a:srgbClr val="0E7C86"/>
              </a:solidFill>
              <a:effectLst/>
            </c:spPr>
          </c:dPt>
          <c:dPt>
            <c:idx val="5"/>
            <c:invertIfNegative val="0"/>
            <c:bubble3D val="0"/>
            <c:spPr>
              <a:solidFill>
                <a:srgbClr val="0E7C86"/>
              </a:solidFill>
              <a:effectLst/>
            </c:spPr>
          </c:dPt>
          <c:cat>
            <c:multiLvlStrRef>
              <c:f>Sheet1!$A$2:$A$7</c:f>
              <c:multiLvlStrCache>
                <c:ptCount val="6"/>
                <c:lvl>
                  <c:pt idx="0">
                    <c:v>ResNet-50</c:v>
                  </c:pt>
                  <c:pt idx="1">
                    <c:v>ConvNeXt, equal sampling</c:v>
                  </c:pt>
                  <c:pt idx="2">
                    <c:v>ConvNeXt, tuned sampling</c:v>
                  </c:pt>
                  <c:pt idx="3">
                    <c:v>CLIP, learning rate 3e-5</c:v>
                  </c:pt>
                  <c:pt idx="4">
                    <c:v>CLIP, learning rate 1e-5</c:v>
                  </c:pt>
                  <c:pt idx="5">
                    <c:v>Two CLIP models averaged</c:v>
                  </c:pt>
                </c:lvl>
              </c:multiLvlStrCache>
            </c:multiLvlStrRef>
          </c:cat>
          <c:val>
            <c:numRef>
              <c:f>Sheet1!$B$2:$B$7</c:f>
              <c:numCache>
                <c:formatCode>General</c:formatCode>
                <c:ptCount val="6"/>
                <c:pt idx="0">
                  <c:v>0.7342</c:v>
                </c:pt>
                <c:pt idx="1">
                  <c:v>0.7384</c:v>
                </c:pt>
                <c:pt idx="2">
                  <c:v>0.7474</c:v>
                </c:pt>
                <c:pt idx="3">
                  <c:v>0.7857</c:v>
                </c:pt>
                <c:pt idx="4">
                  <c:v>0.7876</c:v>
                </c:pt>
                <c:pt idx="5">
                  <c:v>0.7912</c:v>
                </c:pt>
              </c:numCache>
            </c:numRef>
          </c:val>
        </c:ser>
        <c:dLbls>
          <c:numFmt formatCode="0.0000" sourceLinked="0"/>
          <c:txPr>
            <a:bodyPr/>
            <a:lstStyle/>
            <a:p>
              <a:pPr>
                <a:defRPr b="0" i="0" strike="noStrike" sz="1400" u="none">
                  <a:solidFill>
                    <a:srgbClr val="0B1F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0.82"/>
          <c:min val="0.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Challenge_Avg on the test set</c:v>
                </c:pt>
              </c:strCache>
            </c:strRef>
          </c:tx>
          <c:spPr>
            <a:solidFill>
              <a:srgbClr val="C8D6DC"/>
            </a:solidFill>
            <a:effectLst/>
          </c:spPr>
          <c:invertIfNegative val="0"/>
          <c:dLbls>
            <c:numFmt formatCode="0.0000" sourceLinked="0"/>
            <c:txPr>
              <a:bodyPr/>
              <a:lstStyle/>
              <a:p>
                <a:pPr>
                  <a:defRPr b="0" i="0" strike="noStrike" sz="14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C8D6DC"/>
              </a:solidFill>
              <a:effectLst/>
            </c:spPr>
          </c:dPt>
          <c:dPt>
            <c:idx val="1"/>
            <c:invertIfNegative val="0"/>
            <c:bubble3D val="0"/>
            <c:spPr>
              <a:solidFill>
                <a:srgbClr val="C8D6DC"/>
              </a:solidFill>
              <a:effectLst/>
            </c:spPr>
          </c:dPt>
          <c:dPt>
            <c:idx val="2"/>
            <c:invertIfNegative val="0"/>
            <c:bubble3D val="0"/>
            <c:spPr>
              <a:solidFill>
                <a:srgbClr val="7FB7BE"/>
              </a:solidFill>
              <a:effectLst/>
            </c:spPr>
          </c:dPt>
          <c:dPt>
            <c:idx val="3"/>
            <c:invertIfNegative val="0"/>
            <c:bubble3D val="0"/>
            <c:spPr>
              <a:solidFill>
                <a:srgbClr val="7FB7BE"/>
              </a:solidFill>
              <a:effectLst/>
            </c:spPr>
          </c:dPt>
          <c:dPt>
            <c:idx val="4"/>
            <c:invertIfNegative val="0"/>
            <c:bubble3D val="0"/>
            <c:spPr>
              <a:solidFill>
                <a:srgbClr val="0E7C86"/>
              </a:solidFill>
              <a:effectLst/>
            </c:spPr>
          </c:dPt>
          <c:dPt>
            <c:idx val="5"/>
            <c:invertIfNegative val="0"/>
            <c:bubble3D val="0"/>
            <c:spPr>
              <a:solidFill>
                <a:srgbClr val="0E7C86"/>
              </a:solidFill>
              <a:effectLst/>
            </c:spPr>
          </c:dPt>
          <c:cat>
            <c:multiLvlStrRef>
              <c:f>Sheet1!$A$2:$A$7</c:f>
              <c:multiLvlStrCache>
                <c:ptCount val="6"/>
                <c:lvl>
                  <c:pt idx="0">
                    <c:v>Prior baseline</c:v>
                  </c:pt>
                  <c:pt idx="1">
                    <c:v>ConvNeXt-Tiny</c:v>
                  </c:pt>
                  <c:pt idx="2">
                    <c:v>CLIP B/16</c:v>
                  </c:pt>
                  <c:pt idx="3">
                    <c:v>3 x CLIP B/16</c:v>
                  </c:pt>
                  <c:pt idx="4">
                    <c:v>CLIP L/14</c:v>
                  </c:pt>
                  <c:pt idx="5">
                    <c:v>2 x CLIP L/14</c:v>
                  </c:pt>
                </c:lvl>
              </c:multiLvlStrCache>
            </c:multiLvlStrRef>
          </c:cat>
          <c:val>
            <c:numRef>
              <c:f>Sheet1!$B$2:$B$7</c:f>
              <c:numCache>
                <c:formatCode>General</c:formatCode>
                <c:ptCount val="6"/>
                <c:pt idx="0">
                  <c:v>0.4955</c:v>
                </c:pt>
                <c:pt idx="1">
                  <c:v>0.7288</c:v>
                </c:pt>
                <c:pt idx="2">
                  <c:v>0.7668</c:v>
                </c:pt>
                <c:pt idx="3">
                  <c:v>0.7694</c:v>
                </c:pt>
                <c:pt idx="4">
                  <c:v>0.7788</c:v>
                </c:pt>
                <c:pt idx="5">
                  <c:v>0.7773</c:v>
                </c:pt>
              </c:numCache>
            </c:numRef>
          </c:val>
        </c:ser>
        <c:dLbls>
          <c:numFmt formatCode="0.0000" sourceLinked="0"/>
          <c:txPr>
            <a:bodyPr/>
            <a:lstStyle/>
            <a:p>
              <a:pPr>
                <a:defRPr b="0" i="0" strike="noStrike" sz="1400" u="none">
                  <a:solidFill>
                    <a:srgbClr val="0B1F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0.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is the UPAR Challenge, Track 1, which is about recognising attributes of pedestrians in surveillance images. Our final submission scored 0.7773 on the hidden test set. In the next few minutes I will explain the task, what we found in the data, how we solved it and how the results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cropped photo of a person, the model has to answer 40 yes or no questions: age group, gender, hair length, clothing length and colour, trousers or skirt, and accessories like bags or hats. We train on about 98 thousand images from three public datasets. The hard part is that the test set, with about 29 thousand images, comes from cameras the model has never seen. Also, the scorer uses a fixed cut-off of 0.5 and combines two measures, mA and instance F1, so we have to be good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anything we looked closely at the data, and four things shaped our design. First, twelve attributes are very rare, yet they count for 30 percent of the score, so we gave them extra weight. Second, some datasets never label certain colours, so we taught the model to ignore those cases. Third, some people wear two colours, so every attribute is its own yes or no question. Fourth, one dataset is 81 percent of the training data, so we balanced the sampling and scored each dataset separately, which is also how the leaderboard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has five steps. We resize every image once and store it, because Colab gives us only about two CPU cores. We augment on the GPU, but never change colours, since colour is one of the labels. We fine-tune CLIP, a model pretrained on images and text, with a gentle learning rate for the early layers. We started with the base size and moved to the large one at the end. For the final models we also use the validation data, which the rules allow. In the end we average two CLIP models of the larger L/14 size. Everything ran on free Colab GPUs, with three accounts running experiments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could not check the real test set, so we trained on two datasets and scored the third one, as a stand-in for an unseen domain. Here is PETA held out. ResNet and ConvNeXt end up around 0.73 to 0.75, while CLIP reaches about 0.79, and averaging two CLIP models adds a little more. We also found that a short training schedule beat a long one, because the long one overfit.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six Codabench submissions. A baseline that ignores the image scored 0.4955. ConvNeXt-Tiny gave 0.7288. One CLIP model gave 0.7668, and averaging three of them gave 0.7694. Then the large CLIP, ViT-L/14, gave 0.7788 as a single model. Averaging two large models gave 0.7773, which is within noise of the single one. That was our last allowed submission, so 0.7773 is the final score, rank 42 on the leaderboard. The best score there was 0.8021. Things that did not help were longer training, tuning a threshold for each attribute, adding ConvNeXt to the ensemble, and averaging the two large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there are some limits. Most of our experiments used one random seed, so very small differences are noise, and our held-out test is only a stand-in for the real unseen domain. With more GPU time we would train the large CLIP model longer and with more seeds, and try stronger blur and low-resolution augmentation, and CLIP text prompts.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6766560" cy="82296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UPAR Challenge 2027, Track 1</a:t>
            </a:r>
            <a:endParaRPr lang="en-US" sz="11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2011680"/>
          </a:xfrm>
          <a:prstGeom prst="rect">
            <a:avLst/>
          </a:prstGeom>
          <a:noFill/>
          <a:ln/>
        </p:spPr>
        <p:txBody>
          <a:bodyPr wrap="square" lIns="0" tIns="0" rIns="0" bIns="0" rtlCol="0" anchor="t"/>
          <a:lstStyle/>
          <a:p>
            <a:pPr algn="l" indent="0" marL="0">
              <a:buNone/>
            </a:pPr>
            <a:r>
              <a:rPr lang="en-US" sz="4000" b="1" dirty="0">
                <a:solidFill>
                  <a:schemeClr val="bg1"/>
                </a:solidFill>
              </a:rPr>
              <a:t>Recognising pedestrian attributes on unseen cameras</a:t>
            </a:r>
            <a:endParaRPr lang="en-US" sz="4000" dirty="0"/>
          </a:p>
        </p:txBody>
      </p:sp>
      <p:sp>
        <p:nvSpPr>
          <p:cNvPr id="3" name="Text 0"/>
          <p:cNvSpPr/>
          <p:nvPr>
            <p:ph idx="101" type="body" hasCustomPrompt="1"/>
          </p:nvPr>
        </p:nvSpPr>
        <p:spPr>
          <a:xfrm>
            <a:off x="731520" y="3611880"/>
            <a:ext cx="6766560" cy="822960"/>
          </a:xfrm>
          <a:prstGeom prst="rect">
            <a:avLst/>
          </a:prstGeom>
          <a:noFill/>
          <a:ln/>
        </p:spPr>
        <p:txBody>
          <a:bodyPr wrap="square" lIns="0" tIns="0" rIns="0" bIns="0" rtlCol="0" anchor="t"/>
          <a:lstStyle/>
          <a:p>
            <a:pPr algn="l" indent="0" marL="0">
              <a:buNone/>
            </a:pPr>
            <a:r>
              <a:rPr lang="en-US" sz="2000" dirty="0">
                <a:solidFill>
                  <a:schemeClr val="accent3"/>
                </a:solidFill>
              </a:rPr>
              <a:t>UPAR Challenge 2027, Track 1 · Computer Vision, Assignment 2</a:t>
            </a:r>
            <a:endParaRPr lang="en-US" sz="2000" dirty="0"/>
          </a:p>
        </p:txBody>
      </p:sp>
      <p:sp>
        <p:nvSpPr>
          <p:cNvPr id="4" name="Text 2"/>
          <p:cNvSpPr txBox="1"/>
          <p:nvPr/>
        </p:nvSpPr>
        <p:spPr>
          <a:xfrm>
            <a:off x="731520" y="5943600"/>
            <a:ext cx="10789920" cy="365760"/>
          </a:xfrm>
          <a:prstGeom prst="rect">
            <a:avLst/>
          </a:prstGeom>
          <a:noFill/>
          <a:ln/>
        </p:spPr>
        <p:txBody>
          <a:bodyPr wrap="square" lIns="0" tIns="0" rIns="0" bIns="0" rtlCol="0" anchor="ctr"/>
          <a:lstStyle/>
          <a:p>
            <a:pPr indent="0" marL="0">
              <a:buNone/>
            </a:pPr>
            <a:r>
              <a:rPr lang="en-US" sz="1400" dirty="0">
                <a:solidFill>
                  <a:schemeClr val="accent3"/>
                </a:solidFill>
              </a:rPr>
              <a:t>Muhammad Umar (23K-0023)   ·   Raghib Rizwan Rabbani (23K-0012)   ·   Syed Fahad Faheem Shah (23K-0062)</a:t>
            </a:r>
            <a:endParaRPr lang="en-US" sz="1400" dirty="0"/>
          </a:p>
        </p:txBody>
      </p:sp>
      <p:sp>
        <p:nvSpPr>
          <p:cNvPr id="5" name="Score circle"/>
          <p:cNvSpPr/>
          <p:nvPr/>
        </p:nvSpPr>
        <p:spPr>
          <a:xfrm>
            <a:off x="8183880" y="1325880"/>
            <a:ext cx="3566160" cy="3566160"/>
          </a:xfrm>
          <a:prstGeom prst="ellipse">
            <a:avLst/>
          </a:prstGeom>
          <a:solidFill>
            <a:schemeClr val="accent1"/>
          </a:solidFill>
          <a:ln/>
        </p:spPr>
      </p:sp>
      <p:sp>
        <p:nvSpPr>
          <p:cNvPr id="6" name="Text 4"/>
          <p:cNvSpPr txBox="1"/>
          <p:nvPr/>
        </p:nvSpPr>
        <p:spPr>
          <a:xfrm>
            <a:off x="8183880" y="2240280"/>
            <a:ext cx="3566160" cy="914400"/>
          </a:xfrm>
          <a:prstGeom prst="rect">
            <a:avLst/>
          </a:prstGeom>
          <a:noFill/>
          <a:ln/>
        </p:spPr>
        <p:txBody>
          <a:bodyPr wrap="square" lIns="0" tIns="0" rIns="0" bIns="0" rtlCol="0" anchor="ctr"/>
          <a:lstStyle/>
          <a:p>
            <a:pPr algn="ctr" indent="0" marL="0">
              <a:buNone/>
            </a:pPr>
            <a:r>
              <a:rPr lang="en-US" sz="5400" b="1" dirty="0">
                <a:solidFill>
                  <a:schemeClr val="bg1"/>
                </a:solidFill>
              </a:rPr>
              <a:t>0.7773</a:t>
            </a:r>
            <a:endParaRPr lang="en-US" sz="5400" dirty="0"/>
          </a:p>
        </p:txBody>
      </p:sp>
      <p:sp>
        <p:nvSpPr>
          <p:cNvPr id="7" name="Text 5"/>
          <p:cNvSpPr txBox="1"/>
          <p:nvPr/>
        </p:nvSpPr>
        <p:spPr>
          <a:xfrm>
            <a:off x="8549640" y="3200400"/>
            <a:ext cx="2834640" cy="731520"/>
          </a:xfrm>
          <a:prstGeom prst="rect">
            <a:avLst/>
          </a:prstGeom>
          <a:noFill/>
          <a:ln/>
        </p:spPr>
        <p:txBody>
          <a:bodyPr wrap="square" lIns="0" tIns="0" rIns="0" bIns="0" rtlCol="0" anchor="t"/>
          <a:lstStyle/>
          <a:p>
            <a:pPr algn="ctr" indent="0" marL="0">
              <a:buNone/>
            </a:pPr>
            <a:r>
              <a:rPr lang="en-US" sz="1600" dirty="0">
                <a:solidFill>
                  <a:schemeClr val="bg1"/>
                </a:solidFill>
              </a:rPr>
              <a:t>Challenge_Avg on</a:t>
            </a:r>
            <a:endParaRPr lang="en-US" sz="1600" dirty="0"/>
          </a:p>
          <a:p>
            <a:pPr algn="ctr" indent="0" marL="0">
              <a:buNone/>
            </a:pPr>
            <a:r>
              <a:rPr lang="en-US" sz="1600" dirty="0">
                <a:solidFill>
                  <a:schemeClr val="bg1"/>
                </a:solidFill>
              </a:rPr>
              <a:t>the hidden test set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The task: 40 yes/no questions about every person</a:t>
            </a:r>
            <a:endParaRPr lang="en-US" sz="3400" dirty="0"/>
          </a:p>
        </p:txBody>
      </p:sp>
      <p:sp>
        <p:nvSpPr>
          <p:cNvPr id="3" name="Attribute card Age"/>
          <p:cNvSpPr/>
          <p:nvPr/>
        </p:nvSpPr>
        <p:spPr>
          <a:xfrm>
            <a:off x="640080" y="1600200"/>
            <a:ext cx="2834640" cy="1371600"/>
          </a:xfrm>
          <a:prstGeom prst="roundRect">
            <a:avLst>
              <a:gd name="adj" fmla="val 9333"/>
            </a:avLst>
          </a:prstGeom>
          <a:solidFill>
            <a:schemeClr val="bg2"/>
          </a:solidFill>
          <a:ln/>
        </p:spPr>
      </p:sp>
      <p:sp>
        <p:nvSpPr>
          <p:cNvPr id="4" name="Text 2"/>
          <p:cNvSpPr txBox="1"/>
          <p:nvPr/>
        </p:nvSpPr>
        <p:spPr>
          <a:xfrm>
            <a:off x="822960" y="173736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Age</a:t>
            </a:r>
            <a:endParaRPr lang="en-US" sz="2000" dirty="0"/>
          </a:p>
        </p:txBody>
      </p:sp>
      <p:sp>
        <p:nvSpPr>
          <p:cNvPr id="5" name="Text 3"/>
          <p:cNvSpPr txBox="1"/>
          <p:nvPr/>
        </p:nvSpPr>
        <p:spPr>
          <a:xfrm>
            <a:off x="822960" y="2148840"/>
            <a:ext cx="2468880" cy="731520"/>
          </a:xfrm>
          <a:prstGeom prst="rect">
            <a:avLst/>
          </a:prstGeom>
          <a:noFill/>
          <a:ln/>
        </p:spPr>
        <p:txBody>
          <a:bodyPr wrap="square" lIns="0" tIns="0" rIns="0" bIns="0" rtlCol="0" anchor="t"/>
          <a:lstStyle/>
          <a:p>
            <a:pPr indent="0" marL="0">
              <a:buNone/>
            </a:pPr>
            <a:r>
              <a:rPr lang="en-US" sz="1400" dirty="0">
                <a:solidFill>
                  <a:schemeClr val="tx2"/>
                </a:solidFill>
              </a:rPr>
              <a:t>young, adult, old</a:t>
            </a:r>
            <a:endParaRPr lang="en-US" sz="1400" dirty="0"/>
          </a:p>
        </p:txBody>
      </p:sp>
      <p:sp>
        <p:nvSpPr>
          <p:cNvPr id="6" name="Attribute card Gender"/>
          <p:cNvSpPr/>
          <p:nvPr/>
        </p:nvSpPr>
        <p:spPr>
          <a:xfrm>
            <a:off x="3657600" y="1600200"/>
            <a:ext cx="2834640" cy="1371600"/>
          </a:xfrm>
          <a:prstGeom prst="roundRect">
            <a:avLst>
              <a:gd name="adj" fmla="val 9333"/>
            </a:avLst>
          </a:prstGeom>
          <a:solidFill>
            <a:schemeClr val="bg2"/>
          </a:solidFill>
          <a:ln/>
        </p:spPr>
      </p:sp>
      <p:sp>
        <p:nvSpPr>
          <p:cNvPr id="7" name="Text 5"/>
          <p:cNvSpPr txBox="1"/>
          <p:nvPr/>
        </p:nvSpPr>
        <p:spPr>
          <a:xfrm>
            <a:off x="3840480" y="173736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Gender</a:t>
            </a:r>
            <a:endParaRPr lang="en-US" sz="2000" dirty="0"/>
          </a:p>
        </p:txBody>
      </p:sp>
      <p:sp>
        <p:nvSpPr>
          <p:cNvPr id="8" name="Text 6"/>
          <p:cNvSpPr txBox="1"/>
          <p:nvPr/>
        </p:nvSpPr>
        <p:spPr>
          <a:xfrm>
            <a:off x="3840480" y="2148840"/>
            <a:ext cx="2468880" cy="731520"/>
          </a:xfrm>
          <a:prstGeom prst="rect">
            <a:avLst/>
          </a:prstGeom>
          <a:noFill/>
          <a:ln/>
        </p:spPr>
        <p:txBody>
          <a:bodyPr wrap="square" lIns="0" tIns="0" rIns="0" bIns="0" rtlCol="0" anchor="t"/>
          <a:lstStyle/>
          <a:p>
            <a:pPr indent="0" marL="0">
              <a:buNone/>
            </a:pPr>
            <a:r>
              <a:rPr lang="en-US" sz="1400" dirty="0">
                <a:solidFill>
                  <a:schemeClr val="tx2"/>
                </a:solidFill>
              </a:rPr>
              <a:t>female or not</a:t>
            </a:r>
            <a:endParaRPr lang="en-US" sz="1400" dirty="0"/>
          </a:p>
        </p:txBody>
      </p:sp>
      <p:sp>
        <p:nvSpPr>
          <p:cNvPr id="9" name="Attribute card Hair"/>
          <p:cNvSpPr/>
          <p:nvPr/>
        </p:nvSpPr>
        <p:spPr>
          <a:xfrm>
            <a:off x="640080" y="3154680"/>
            <a:ext cx="2834640" cy="1371600"/>
          </a:xfrm>
          <a:prstGeom prst="roundRect">
            <a:avLst>
              <a:gd name="adj" fmla="val 9333"/>
            </a:avLst>
          </a:prstGeom>
          <a:solidFill>
            <a:schemeClr val="bg2"/>
          </a:solidFill>
          <a:ln/>
        </p:spPr>
      </p:sp>
      <p:sp>
        <p:nvSpPr>
          <p:cNvPr id="10" name="Text 8"/>
          <p:cNvSpPr txBox="1"/>
          <p:nvPr/>
        </p:nvSpPr>
        <p:spPr>
          <a:xfrm>
            <a:off x="822960" y="329184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Hair</a:t>
            </a:r>
            <a:endParaRPr lang="en-US" sz="2000" dirty="0"/>
          </a:p>
        </p:txBody>
      </p:sp>
      <p:sp>
        <p:nvSpPr>
          <p:cNvPr id="11" name="Text 9"/>
          <p:cNvSpPr txBox="1"/>
          <p:nvPr/>
        </p:nvSpPr>
        <p:spPr>
          <a:xfrm>
            <a:off x="822960" y="3703320"/>
            <a:ext cx="2468880" cy="731520"/>
          </a:xfrm>
          <a:prstGeom prst="rect">
            <a:avLst/>
          </a:prstGeom>
          <a:noFill/>
          <a:ln/>
        </p:spPr>
        <p:txBody>
          <a:bodyPr wrap="square" lIns="0" tIns="0" rIns="0" bIns="0" rtlCol="0" anchor="t"/>
          <a:lstStyle/>
          <a:p>
            <a:pPr indent="0" marL="0">
              <a:buNone/>
            </a:pPr>
            <a:r>
              <a:rPr lang="en-US" sz="1400" dirty="0">
                <a:solidFill>
                  <a:schemeClr val="tx2"/>
                </a:solidFill>
              </a:rPr>
              <a:t>short, long, bald</a:t>
            </a:r>
            <a:endParaRPr lang="en-US" sz="1400" dirty="0"/>
          </a:p>
        </p:txBody>
      </p:sp>
      <p:sp>
        <p:nvSpPr>
          <p:cNvPr id="12" name="Attribute card Clothing"/>
          <p:cNvSpPr/>
          <p:nvPr/>
        </p:nvSpPr>
        <p:spPr>
          <a:xfrm>
            <a:off x="3657600" y="3154680"/>
            <a:ext cx="2834640" cy="1371600"/>
          </a:xfrm>
          <a:prstGeom prst="roundRect">
            <a:avLst>
              <a:gd name="adj" fmla="val 9333"/>
            </a:avLst>
          </a:prstGeom>
          <a:solidFill>
            <a:schemeClr val="bg2"/>
          </a:solidFill>
          <a:ln/>
        </p:spPr>
      </p:sp>
      <p:sp>
        <p:nvSpPr>
          <p:cNvPr id="13" name="Text 11"/>
          <p:cNvSpPr txBox="1"/>
          <p:nvPr/>
        </p:nvSpPr>
        <p:spPr>
          <a:xfrm>
            <a:off x="3840480" y="329184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Clothing</a:t>
            </a:r>
            <a:endParaRPr lang="en-US" sz="2000" dirty="0"/>
          </a:p>
        </p:txBody>
      </p:sp>
      <p:sp>
        <p:nvSpPr>
          <p:cNvPr id="14" name="Text 12"/>
          <p:cNvSpPr txBox="1"/>
          <p:nvPr/>
        </p:nvSpPr>
        <p:spPr>
          <a:xfrm>
            <a:off x="3840480" y="3703320"/>
            <a:ext cx="2468880" cy="731520"/>
          </a:xfrm>
          <a:prstGeom prst="rect">
            <a:avLst/>
          </a:prstGeom>
          <a:noFill/>
          <a:ln/>
        </p:spPr>
        <p:txBody>
          <a:bodyPr wrap="square" lIns="0" tIns="0" rIns="0" bIns="0" rtlCol="0" anchor="t"/>
          <a:lstStyle/>
          <a:p>
            <a:pPr indent="0" marL="0">
              <a:buNone/>
            </a:pPr>
            <a:r>
              <a:rPr lang="en-US" sz="1400" dirty="0">
                <a:solidFill>
                  <a:schemeClr val="tx2"/>
                </a:solidFill>
              </a:rPr>
              <a:t>sleeve and trouser length, 12 colours for top and bottom</a:t>
            </a:r>
            <a:endParaRPr lang="en-US" sz="1400" dirty="0"/>
          </a:p>
        </p:txBody>
      </p:sp>
      <p:sp>
        <p:nvSpPr>
          <p:cNvPr id="15" name="Attribute card Lower body"/>
          <p:cNvSpPr/>
          <p:nvPr/>
        </p:nvSpPr>
        <p:spPr>
          <a:xfrm>
            <a:off x="640080" y="4709160"/>
            <a:ext cx="2834640" cy="1371600"/>
          </a:xfrm>
          <a:prstGeom prst="roundRect">
            <a:avLst>
              <a:gd name="adj" fmla="val 9333"/>
            </a:avLst>
          </a:prstGeom>
          <a:solidFill>
            <a:schemeClr val="bg2"/>
          </a:solidFill>
          <a:ln/>
        </p:spPr>
      </p:sp>
      <p:sp>
        <p:nvSpPr>
          <p:cNvPr id="16" name="Text 14"/>
          <p:cNvSpPr txBox="1"/>
          <p:nvPr/>
        </p:nvSpPr>
        <p:spPr>
          <a:xfrm>
            <a:off x="822960" y="484632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Lower body</a:t>
            </a:r>
            <a:endParaRPr lang="en-US" sz="2000" dirty="0"/>
          </a:p>
        </p:txBody>
      </p:sp>
      <p:sp>
        <p:nvSpPr>
          <p:cNvPr id="17" name="Text 15"/>
          <p:cNvSpPr txBox="1"/>
          <p:nvPr/>
        </p:nvSpPr>
        <p:spPr>
          <a:xfrm>
            <a:off x="822960" y="5257800"/>
            <a:ext cx="2468880" cy="731520"/>
          </a:xfrm>
          <a:prstGeom prst="rect">
            <a:avLst/>
          </a:prstGeom>
          <a:noFill/>
          <a:ln/>
        </p:spPr>
        <p:txBody>
          <a:bodyPr wrap="square" lIns="0" tIns="0" rIns="0" bIns="0" rtlCol="0" anchor="t"/>
          <a:lstStyle/>
          <a:p>
            <a:pPr indent="0" marL="0">
              <a:buNone/>
            </a:pPr>
            <a:r>
              <a:rPr lang="en-US" sz="1400" dirty="0">
                <a:solidFill>
                  <a:schemeClr val="tx2"/>
                </a:solidFill>
              </a:rPr>
              <a:t>trousers or skirt</a:t>
            </a:r>
            <a:endParaRPr lang="en-US" sz="1400" dirty="0"/>
          </a:p>
        </p:txBody>
      </p:sp>
      <p:sp>
        <p:nvSpPr>
          <p:cNvPr id="18" name="Attribute card Accessories"/>
          <p:cNvSpPr/>
          <p:nvPr/>
        </p:nvSpPr>
        <p:spPr>
          <a:xfrm>
            <a:off x="3657600" y="4709160"/>
            <a:ext cx="2834640" cy="1371600"/>
          </a:xfrm>
          <a:prstGeom prst="roundRect">
            <a:avLst>
              <a:gd name="adj" fmla="val 9333"/>
            </a:avLst>
          </a:prstGeom>
          <a:solidFill>
            <a:schemeClr val="bg2"/>
          </a:solidFill>
          <a:ln/>
        </p:spPr>
      </p:sp>
      <p:sp>
        <p:nvSpPr>
          <p:cNvPr id="19" name="Text 17"/>
          <p:cNvSpPr txBox="1"/>
          <p:nvPr/>
        </p:nvSpPr>
        <p:spPr>
          <a:xfrm>
            <a:off x="3840480" y="4846320"/>
            <a:ext cx="2468880" cy="365760"/>
          </a:xfrm>
          <a:prstGeom prst="rect">
            <a:avLst/>
          </a:prstGeom>
          <a:noFill/>
          <a:ln/>
        </p:spPr>
        <p:txBody>
          <a:bodyPr wrap="square" lIns="0" tIns="0" rIns="0" bIns="0" rtlCol="0" anchor="ctr"/>
          <a:lstStyle/>
          <a:p>
            <a:pPr indent="0" marL="0">
              <a:buNone/>
            </a:pPr>
            <a:r>
              <a:rPr lang="en-US" sz="2000" b="1" dirty="0">
                <a:solidFill>
                  <a:schemeClr val="accent1"/>
                </a:solidFill>
              </a:rPr>
              <a:t>Accessories</a:t>
            </a:r>
            <a:endParaRPr lang="en-US" sz="2000" dirty="0"/>
          </a:p>
        </p:txBody>
      </p:sp>
      <p:sp>
        <p:nvSpPr>
          <p:cNvPr id="20" name="Text 18"/>
          <p:cNvSpPr txBox="1"/>
          <p:nvPr/>
        </p:nvSpPr>
        <p:spPr>
          <a:xfrm>
            <a:off x="3840480" y="5257800"/>
            <a:ext cx="2468880" cy="731520"/>
          </a:xfrm>
          <a:prstGeom prst="rect">
            <a:avLst/>
          </a:prstGeom>
          <a:noFill/>
          <a:ln/>
        </p:spPr>
        <p:txBody>
          <a:bodyPr wrap="square" lIns="0" tIns="0" rIns="0" bIns="0" rtlCol="0" anchor="t"/>
          <a:lstStyle/>
          <a:p>
            <a:pPr indent="0" marL="0">
              <a:buNone/>
            </a:pPr>
            <a:r>
              <a:rPr lang="en-US" sz="1400" dirty="0">
                <a:solidFill>
                  <a:schemeClr val="tx2"/>
                </a:solidFill>
              </a:rPr>
              <a:t>backpack, bag, glasses, sunglasses, hat</a:t>
            </a:r>
            <a:endParaRPr lang="en-US" sz="1400" dirty="0"/>
          </a:p>
        </p:txBody>
      </p:sp>
      <p:sp>
        <p:nvSpPr>
          <p:cNvPr id="21" name="Text 19"/>
          <p:cNvSpPr txBox="1"/>
          <p:nvPr/>
        </p:nvSpPr>
        <p:spPr>
          <a:xfrm>
            <a:off x="7040880" y="1600200"/>
            <a:ext cx="1920240" cy="1371600"/>
          </a:xfrm>
          <a:prstGeom prst="rect">
            <a:avLst/>
          </a:prstGeom>
          <a:noFill/>
          <a:ln/>
        </p:spPr>
        <p:txBody>
          <a:bodyPr wrap="square" lIns="0" tIns="0" rIns="0" bIns="0" rtlCol="0" anchor="ctr"/>
          <a:lstStyle/>
          <a:p>
            <a:pPr indent="0" marL="0">
              <a:buNone/>
            </a:pPr>
            <a:r>
              <a:rPr lang="en-US" sz="4000" b="1" dirty="0">
                <a:solidFill>
                  <a:schemeClr val="accent1"/>
                </a:solidFill>
              </a:rPr>
              <a:t>97,669</a:t>
            </a:r>
            <a:endParaRPr lang="en-US" sz="4000" dirty="0"/>
          </a:p>
        </p:txBody>
      </p:sp>
      <p:sp>
        <p:nvSpPr>
          <p:cNvPr id="22" name="Text 20"/>
          <p:cNvSpPr txBox="1"/>
          <p:nvPr/>
        </p:nvSpPr>
        <p:spPr>
          <a:xfrm>
            <a:off x="9006840" y="1600200"/>
            <a:ext cx="2606040" cy="1371600"/>
          </a:xfrm>
          <a:prstGeom prst="rect">
            <a:avLst/>
          </a:prstGeom>
          <a:noFill/>
          <a:ln/>
        </p:spPr>
        <p:txBody>
          <a:bodyPr wrap="square" lIns="0" tIns="0" rIns="0" bIns="0" rtlCol="0" anchor="ctr"/>
          <a:lstStyle/>
          <a:p>
            <a:pPr indent="0" marL="0">
              <a:buNone/>
            </a:pPr>
            <a:r>
              <a:rPr lang="en-US" sz="1400" dirty="0">
                <a:solidFill>
                  <a:schemeClr val="tx2"/>
                </a:solidFill>
              </a:rPr>
              <a:t>training images from three public datasets: Market1501, PA-100K and PETA</a:t>
            </a:r>
            <a:endParaRPr lang="en-US" sz="1400" dirty="0"/>
          </a:p>
        </p:txBody>
      </p:sp>
      <p:sp>
        <p:nvSpPr>
          <p:cNvPr id="23" name="Text 21"/>
          <p:cNvSpPr txBox="1"/>
          <p:nvPr/>
        </p:nvSpPr>
        <p:spPr>
          <a:xfrm>
            <a:off x="7040880" y="3154680"/>
            <a:ext cx="1920240" cy="1371600"/>
          </a:xfrm>
          <a:prstGeom prst="rect">
            <a:avLst/>
          </a:prstGeom>
          <a:noFill/>
          <a:ln/>
        </p:spPr>
        <p:txBody>
          <a:bodyPr wrap="square" lIns="0" tIns="0" rIns="0" bIns="0" rtlCol="0" anchor="ctr"/>
          <a:lstStyle/>
          <a:p>
            <a:pPr indent="0" marL="0">
              <a:buNone/>
            </a:pPr>
            <a:r>
              <a:rPr lang="en-US" sz="4000" b="1" dirty="0">
                <a:solidFill>
                  <a:schemeClr val="accent1"/>
                </a:solidFill>
              </a:rPr>
              <a:t>29,248</a:t>
            </a:r>
            <a:endParaRPr lang="en-US" sz="4000" dirty="0"/>
          </a:p>
        </p:txBody>
      </p:sp>
      <p:sp>
        <p:nvSpPr>
          <p:cNvPr id="24" name="Text 22"/>
          <p:cNvSpPr txBox="1"/>
          <p:nvPr/>
        </p:nvSpPr>
        <p:spPr>
          <a:xfrm>
            <a:off x="9006840" y="3154680"/>
            <a:ext cx="2606040" cy="1371600"/>
          </a:xfrm>
          <a:prstGeom prst="rect">
            <a:avLst/>
          </a:prstGeom>
          <a:noFill/>
          <a:ln/>
        </p:spPr>
        <p:txBody>
          <a:bodyPr wrap="square" lIns="0" tIns="0" rIns="0" bIns="0" rtlCol="0" anchor="ctr"/>
          <a:lstStyle/>
          <a:p>
            <a:pPr indent="0" marL="0">
              <a:buNone/>
            </a:pPr>
            <a:r>
              <a:rPr lang="en-US" sz="1400" dirty="0">
                <a:solidFill>
                  <a:schemeClr val="tx2"/>
                </a:solidFill>
              </a:rPr>
              <a:t>hidden test images, taken from a domain the model has never seen</a:t>
            </a:r>
            <a:endParaRPr lang="en-US" sz="1400" dirty="0"/>
          </a:p>
        </p:txBody>
      </p:sp>
      <p:sp>
        <p:nvSpPr>
          <p:cNvPr id="25" name="Text 23"/>
          <p:cNvSpPr txBox="1"/>
          <p:nvPr/>
        </p:nvSpPr>
        <p:spPr>
          <a:xfrm>
            <a:off x="7040880" y="4709160"/>
            <a:ext cx="1920240" cy="1371600"/>
          </a:xfrm>
          <a:prstGeom prst="rect">
            <a:avLst/>
          </a:prstGeom>
          <a:noFill/>
          <a:ln/>
        </p:spPr>
        <p:txBody>
          <a:bodyPr wrap="square" lIns="0" tIns="0" rIns="0" bIns="0" rtlCol="0" anchor="ctr"/>
          <a:lstStyle/>
          <a:p>
            <a:pPr indent="0" marL="0">
              <a:buNone/>
            </a:pPr>
            <a:r>
              <a:rPr lang="en-US" sz="4000" b="1" dirty="0">
                <a:solidFill>
                  <a:schemeClr val="accent1"/>
                </a:solidFill>
              </a:rPr>
              <a:t>0.5</a:t>
            </a:r>
            <a:endParaRPr lang="en-US" sz="4000" dirty="0"/>
          </a:p>
        </p:txBody>
      </p:sp>
      <p:sp>
        <p:nvSpPr>
          <p:cNvPr id="26" name="Text 24"/>
          <p:cNvSpPr txBox="1"/>
          <p:nvPr/>
        </p:nvSpPr>
        <p:spPr>
          <a:xfrm>
            <a:off x="9006840" y="4709160"/>
            <a:ext cx="2606040" cy="1371600"/>
          </a:xfrm>
          <a:prstGeom prst="rect">
            <a:avLst/>
          </a:prstGeom>
          <a:noFill/>
          <a:ln/>
        </p:spPr>
        <p:txBody>
          <a:bodyPr wrap="square" lIns="0" tIns="0" rIns="0" bIns="0" rtlCol="0" anchor="ctr"/>
          <a:lstStyle/>
          <a:p>
            <a:pPr indent="0" marL="0">
              <a:buNone/>
            </a:pPr>
            <a:r>
              <a:rPr lang="en-US" sz="1400" dirty="0">
                <a:solidFill>
                  <a:schemeClr val="tx2"/>
                </a:solidFill>
              </a:rPr>
              <a:t>fixed cut-off for every attribute. The score is the harmonic mean of mA and instance F1</a:t>
            </a:r>
            <a:endParaRPr lang="en-US" sz="14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What the data showed, and what we did about it</a:t>
            </a:r>
            <a:endParaRPr lang="en-US" sz="3400" dirty="0"/>
          </a:p>
        </p:txBody>
      </p:sp>
      <p:sp>
        <p:nvSpPr>
          <p:cNvPr id="3" name="Finding card Rare attributes"/>
          <p:cNvSpPr/>
          <p:nvPr/>
        </p:nvSpPr>
        <p:spPr>
          <a:xfrm>
            <a:off x="640080" y="1508760"/>
            <a:ext cx="5349240" cy="2194560"/>
          </a:xfrm>
          <a:prstGeom prst="roundRect">
            <a:avLst>
              <a:gd name="adj" fmla="val 5833"/>
            </a:avLst>
          </a:prstGeom>
          <a:solidFill>
            <a:schemeClr val="bg2"/>
          </a:solidFill>
          <a:ln/>
        </p:spPr>
      </p:sp>
      <p:sp>
        <p:nvSpPr>
          <p:cNvPr id="4" name="Rare attributes badge"/>
          <p:cNvSpPr/>
          <p:nvPr/>
        </p:nvSpPr>
        <p:spPr>
          <a:xfrm>
            <a:off x="868680" y="1737360"/>
            <a:ext cx="685800" cy="685800"/>
          </a:xfrm>
          <a:prstGeom prst="ellipse">
            <a:avLst/>
          </a:prstGeom>
          <a:solidFill>
            <a:schemeClr val="accent1"/>
          </a:solidFill>
          <a:ln/>
        </p:spPr>
      </p:sp>
      <p:pic>
        <p:nvPicPr>
          <p:cNvPr id="5" name="Image 0" descr="Rare attributes">    </p:cNvPr>
          <p:cNvPicPr>
            <a:picLocks noChangeAspect="1"/>
          </p:cNvPicPr>
          <p:nvPr/>
        </p:nvPicPr>
        <p:blipFill>
          <a:blip r:embed="rId1"/>
          <a:stretch>
            <a:fillRect/>
          </a:stretch>
        </p:blipFill>
        <p:spPr>
          <a:xfrm>
            <a:off x="1040130" y="1908810"/>
            <a:ext cx="342900" cy="342900"/>
          </a:xfrm>
          <a:prstGeom prst="rect">
            <a:avLst/>
          </a:prstGeom>
        </p:spPr>
      </p:pic>
      <p:sp>
        <p:nvSpPr>
          <p:cNvPr id="6" name="Text 3"/>
          <p:cNvSpPr txBox="1"/>
          <p:nvPr/>
        </p:nvSpPr>
        <p:spPr>
          <a:xfrm>
            <a:off x="1737360" y="169164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Rare attributes</a:t>
            </a:r>
            <a:endParaRPr lang="en-US" sz="2000" dirty="0"/>
          </a:p>
        </p:txBody>
      </p:sp>
      <p:sp>
        <p:nvSpPr>
          <p:cNvPr id="7" name="Text 4"/>
          <p:cNvSpPr txBox="1"/>
          <p:nvPr/>
        </p:nvSpPr>
        <p:spPr>
          <a:xfrm>
            <a:off x="1737360" y="2194560"/>
            <a:ext cx="4023360" cy="685800"/>
          </a:xfrm>
          <a:prstGeom prst="rect">
            <a:avLst/>
          </a:prstGeom>
          <a:noFill/>
          <a:ln/>
        </p:spPr>
        <p:txBody>
          <a:bodyPr wrap="square" lIns="0" tIns="0" rIns="0" bIns="0" rtlCol="0" anchor="t"/>
          <a:lstStyle/>
          <a:p>
            <a:pPr indent="0" marL="0">
              <a:buNone/>
            </a:pPr>
            <a:r>
              <a:rPr lang="en-US" sz="1400" dirty="0">
                <a:solidFill>
                  <a:schemeClr val="tx2"/>
                </a:solidFill>
              </a:rPr>
              <a:t>12 of the 40 are positive in under 2% of images, but they carry 30% of the score.</a:t>
            </a:r>
            <a:endParaRPr lang="en-US" sz="1400" dirty="0"/>
          </a:p>
        </p:txBody>
      </p:sp>
      <p:sp>
        <p:nvSpPr>
          <p:cNvPr id="8" name="Text 5"/>
          <p:cNvSpPr txBox="1"/>
          <p:nvPr/>
        </p:nvSpPr>
        <p:spPr>
          <a:xfrm>
            <a:off x="1737360" y="2926080"/>
            <a:ext cx="4023360" cy="685800"/>
          </a:xfrm>
          <a:prstGeom prst="rect">
            <a:avLst/>
          </a:prstGeom>
          <a:noFill/>
          <a:ln/>
        </p:spPr>
        <p:txBody>
          <a:bodyPr wrap="square" lIns="0" tIns="0" rIns="0" bIns="0" rtlCol="0" anchor="t"/>
          <a:lstStyle/>
          <a:p>
            <a:pPr indent="0" marL="0">
              <a:buNone/>
            </a:pPr>
            <a:r>
              <a:rPr lang="en-US" sz="1400" b="1" dirty="0">
                <a:solidFill>
                  <a:schemeClr val="accent1"/>
                </a:solidFill>
              </a:rPr>
              <a:t>So we: </a:t>
            </a:r>
            <a:pPr indent="0" marL="0">
              <a:buNone/>
            </a:pPr>
            <a:r>
              <a:rPr lang="en-US" sz="1400" dirty="0">
                <a:solidFill>
                  <a:schemeClr val="tx1"/>
                </a:solidFill>
              </a:rPr>
              <a:t>give rare attributes extra weight in the loss, capped so training stays stable.</a:t>
            </a:r>
            <a:endParaRPr lang="en-US" sz="1400" dirty="0"/>
          </a:p>
        </p:txBody>
      </p:sp>
      <p:sp>
        <p:nvSpPr>
          <p:cNvPr id="9" name="Finding card Missing labels"/>
          <p:cNvSpPr/>
          <p:nvPr/>
        </p:nvSpPr>
        <p:spPr>
          <a:xfrm>
            <a:off x="6172200" y="1508760"/>
            <a:ext cx="5349240" cy="2194560"/>
          </a:xfrm>
          <a:prstGeom prst="roundRect">
            <a:avLst>
              <a:gd name="adj" fmla="val 5833"/>
            </a:avLst>
          </a:prstGeom>
          <a:solidFill>
            <a:schemeClr val="bg2"/>
          </a:solidFill>
          <a:ln/>
        </p:spPr>
      </p:sp>
      <p:sp>
        <p:nvSpPr>
          <p:cNvPr id="10" name="Missing labels badge"/>
          <p:cNvSpPr/>
          <p:nvPr/>
        </p:nvSpPr>
        <p:spPr>
          <a:xfrm>
            <a:off x="6400800" y="1737360"/>
            <a:ext cx="685800" cy="685800"/>
          </a:xfrm>
          <a:prstGeom prst="ellipse">
            <a:avLst/>
          </a:prstGeom>
          <a:solidFill>
            <a:schemeClr val="accent1"/>
          </a:solidFill>
          <a:ln/>
        </p:spPr>
      </p:sp>
      <p:pic>
        <p:nvPicPr>
          <p:cNvPr id="11" name="Image 1" descr="Missing labels">    </p:cNvPr>
          <p:cNvPicPr>
            <a:picLocks noChangeAspect="1"/>
          </p:cNvPicPr>
          <p:nvPr/>
        </p:nvPicPr>
        <p:blipFill>
          <a:blip r:embed="rId2"/>
          <a:stretch>
            <a:fillRect/>
          </a:stretch>
        </p:blipFill>
        <p:spPr>
          <a:xfrm>
            <a:off x="6572250" y="1908810"/>
            <a:ext cx="342900" cy="342900"/>
          </a:xfrm>
          <a:prstGeom prst="rect">
            <a:avLst/>
          </a:prstGeom>
        </p:spPr>
      </p:pic>
      <p:sp>
        <p:nvSpPr>
          <p:cNvPr id="12" name="Text 8"/>
          <p:cNvSpPr txBox="1"/>
          <p:nvPr/>
        </p:nvSpPr>
        <p:spPr>
          <a:xfrm>
            <a:off x="7269480" y="169164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Missing labels</a:t>
            </a:r>
            <a:endParaRPr lang="en-US" sz="2000" dirty="0"/>
          </a:p>
        </p:txBody>
      </p:sp>
      <p:sp>
        <p:nvSpPr>
          <p:cNvPr id="13" name="Text 9"/>
          <p:cNvSpPr txBox="1"/>
          <p:nvPr/>
        </p:nvSpPr>
        <p:spPr>
          <a:xfrm>
            <a:off x="7269480" y="2194560"/>
            <a:ext cx="4023360" cy="685800"/>
          </a:xfrm>
          <a:prstGeom prst="rect">
            <a:avLst/>
          </a:prstGeom>
          <a:noFill/>
          <a:ln/>
        </p:spPr>
        <p:txBody>
          <a:bodyPr wrap="square" lIns="0" tIns="0" rIns="0" bIns="0" rtlCol="0" anchor="t"/>
          <a:lstStyle/>
          <a:p>
            <a:pPr indent="0" marL="0">
              <a:buNone/>
            </a:pPr>
            <a:r>
              <a:rPr lang="en-US" sz="1400" dirty="0">
                <a:solidFill>
                  <a:schemeClr val="tx2"/>
                </a:solidFill>
              </a:rPr>
              <a:t>Some datasets never label certain colours, so a zero means unknown, not absent.</a:t>
            </a:r>
            <a:endParaRPr lang="en-US" sz="1400" dirty="0"/>
          </a:p>
        </p:txBody>
      </p:sp>
      <p:sp>
        <p:nvSpPr>
          <p:cNvPr id="14" name="Text 10"/>
          <p:cNvSpPr txBox="1"/>
          <p:nvPr/>
        </p:nvSpPr>
        <p:spPr>
          <a:xfrm>
            <a:off x="7269480" y="2926080"/>
            <a:ext cx="4023360" cy="685800"/>
          </a:xfrm>
          <a:prstGeom prst="rect">
            <a:avLst/>
          </a:prstGeom>
          <a:noFill/>
          <a:ln/>
        </p:spPr>
        <p:txBody>
          <a:bodyPr wrap="square" lIns="0" tIns="0" rIns="0" bIns="0" rtlCol="0" anchor="t"/>
          <a:lstStyle/>
          <a:p>
            <a:pPr indent="0" marL="0">
              <a:buNone/>
            </a:pPr>
            <a:r>
              <a:rPr lang="en-US" sz="1400" b="1" dirty="0">
                <a:solidFill>
                  <a:schemeClr val="accent1"/>
                </a:solidFill>
              </a:rPr>
              <a:t>So we: </a:t>
            </a:r>
            <a:pPr indent="0" marL="0">
              <a:buNone/>
            </a:pPr>
            <a:r>
              <a:rPr lang="en-US" sz="1400" dirty="0">
                <a:solidFill>
                  <a:schemeClr val="tx1"/>
                </a:solidFill>
              </a:rPr>
              <a:t>ignore those attributes for that dataset during training.</a:t>
            </a:r>
            <a:endParaRPr lang="en-US" sz="1400" dirty="0"/>
          </a:p>
        </p:txBody>
      </p:sp>
      <p:sp>
        <p:nvSpPr>
          <p:cNvPr id="15" name="Finding card Overlapping colours"/>
          <p:cNvSpPr/>
          <p:nvPr/>
        </p:nvSpPr>
        <p:spPr>
          <a:xfrm>
            <a:off x="640080" y="3886200"/>
            <a:ext cx="5349240" cy="2194560"/>
          </a:xfrm>
          <a:prstGeom prst="roundRect">
            <a:avLst>
              <a:gd name="adj" fmla="val 5833"/>
            </a:avLst>
          </a:prstGeom>
          <a:solidFill>
            <a:schemeClr val="bg2"/>
          </a:solidFill>
          <a:ln/>
        </p:spPr>
      </p:sp>
      <p:sp>
        <p:nvSpPr>
          <p:cNvPr id="16" name="Overlapping colours badge"/>
          <p:cNvSpPr/>
          <p:nvPr/>
        </p:nvSpPr>
        <p:spPr>
          <a:xfrm>
            <a:off x="868680" y="4114800"/>
            <a:ext cx="685800" cy="685800"/>
          </a:xfrm>
          <a:prstGeom prst="ellipse">
            <a:avLst/>
          </a:prstGeom>
          <a:solidFill>
            <a:schemeClr val="accent1"/>
          </a:solidFill>
          <a:ln/>
        </p:spPr>
      </p:sp>
      <p:pic>
        <p:nvPicPr>
          <p:cNvPr id="17" name="Image 2" descr="Overlapping colours">    </p:cNvPr>
          <p:cNvPicPr>
            <a:picLocks noChangeAspect="1"/>
          </p:cNvPicPr>
          <p:nvPr/>
        </p:nvPicPr>
        <p:blipFill>
          <a:blip r:embed="rId3"/>
          <a:stretch>
            <a:fillRect/>
          </a:stretch>
        </p:blipFill>
        <p:spPr>
          <a:xfrm>
            <a:off x="1040130" y="4286250"/>
            <a:ext cx="342900" cy="342900"/>
          </a:xfrm>
          <a:prstGeom prst="rect">
            <a:avLst/>
          </a:prstGeom>
        </p:spPr>
      </p:pic>
      <p:sp>
        <p:nvSpPr>
          <p:cNvPr id="18" name="Text 13"/>
          <p:cNvSpPr txBox="1"/>
          <p:nvPr/>
        </p:nvSpPr>
        <p:spPr>
          <a:xfrm>
            <a:off x="1737360" y="406908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Overlapping colours</a:t>
            </a:r>
            <a:endParaRPr lang="en-US" sz="2000" dirty="0"/>
          </a:p>
        </p:txBody>
      </p:sp>
      <p:sp>
        <p:nvSpPr>
          <p:cNvPr id="19" name="Text 14"/>
          <p:cNvSpPr txBox="1"/>
          <p:nvPr/>
        </p:nvSpPr>
        <p:spPr>
          <a:xfrm>
            <a:off x="1737360" y="4572000"/>
            <a:ext cx="4023360" cy="685800"/>
          </a:xfrm>
          <a:prstGeom prst="rect">
            <a:avLst/>
          </a:prstGeom>
          <a:noFill/>
          <a:ln/>
        </p:spPr>
        <p:txBody>
          <a:bodyPr wrap="square" lIns="0" tIns="0" rIns="0" bIns="0" rtlCol="0" anchor="t"/>
          <a:lstStyle/>
          <a:p>
            <a:pPr indent="0" marL="0">
              <a:buNone/>
            </a:pPr>
            <a:r>
              <a:rPr lang="en-US" sz="1400" dirty="0">
                <a:solidFill>
                  <a:schemeClr val="tx2"/>
                </a:solidFill>
              </a:rPr>
              <a:t>Some people wear two colours, so one choice per group would be wrong.</a:t>
            </a:r>
            <a:endParaRPr lang="en-US" sz="1400" dirty="0"/>
          </a:p>
        </p:txBody>
      </p:sp>
      <p:sp>
        <p:nvSpPr>
          <p:cNvPr id="20" name="Text 15"/>
          <p:cNvSpPr txBox="1"/>
          <p:nvPr/>
        </p:nvSpPr>
        <p:spPr>
          <a:xfrm>
            <a:off x="1737360" y="5303520"/>
            <a:ext cx="4023360" cy="685800"/>
          </a:xfrm>
          <a:prstGeom prst="rect">
            <a:avLst/>
          </a:prstGeom>
          <a:noFill/>
          <a:ln/>
        </p:spPr>
        <p:txBody>
          <a:bodyPr wrap="square" lIns="0" tIns="0" rIns="0" bIns="0" rtlCol="0" anchor="t"/>
          <a:lstStyle/>
          <a:p>
            <a:pPr indent="0" marL="0">
              <a:buNone/>
            </a:pPr>
            <a:r>
              <a:rPr lang="en-US" sz="1400" b="1" dirty="0">
                <a:solidFill>
                  <a:schemeClr val="accent1"/>
                </a:solidFill>
              </a:rPr>
              <a:t>So we: </a:t>
            </a:r>
            <a:pPr indent="0" marL="0">
              <a:buNone/>
            </a:pPr>
            <a:r>
              <a:rPr lang="en-US" sz="1400" dirty="0">
                <a:solidFill>
                  <a:schemeClr val="tx1"/>
                </a:solidFill>
              </a:rPr>
              <a:t>use one independent yes/no output for each attribute.</a:t>
            </a:r>
            <a:endParaRPr lang="en-US" sz="1400" dirty="0"/>
          </a:p>
        </p:txBody>
      </p:sp>
      <p:sp>
        <p:nvSpPr>
          <p:cNvPr id="21" name="Finding card Uneven datasets"/>
          <p:cNvSpPr/>
          <p:nvPr/>
        </p:nvSpPr>
        <p:spPr>
          <a:xfrm>
            <a:off x="6172200" y="3886200"/>
            <a:ext cx="5349240" cy="2194560"/>
          </a:xfrm>
          <a:prstGeom prst="roundRect">
            <a:avLst>
              <a:gd name="adj" fmla="val 5833"/>
            </a:avLst>
          </a:prstGeom>
          <a:solidFill>
            <a:schemeClr val="bg2"/>
          </a:solidFill>
          <a:ln/>
        </p:spPr>
      </p:sp>
      <p:sp>
        <p:nvSpPr>
          <p:cNvPr id="22" name="Uneven datasets badge"/>
          <p:cNvSpPr/>
          <p:nvPr/>
        </p:nvSpPr>
        <p:spPr>
          <a:xfrm>
            <a:off x="6400800" y="4114800"/>
            <a:ext cx="685800" cy="685800"/>
          </a:xfrm>
          <a:prstGeom prst="ellipse">
            <a:avLst/>
          </a:prstGeom>
          <a:solidFill>
            <a:schemeClr val="accent1"/>
          </a:solidFill>
          <a:ln/>
        </p:spPr>
      </p:sp>
      <p:pic>
        <p:nvPicPr>
          <p:cNvPr id="23" name="Image 3" descr="Uneven datasets">    </p:cNvPr>
          <p:cNvPicPr>
            <a:picLocks noChangeAspect="1"/>
          </p:cNvPicPr>
          <p:nvPr/>
        </p:nvPicPr>
        <p:blipFill>
          <a:blip r:embed="rId4"/>
          <a:stretch>
            <a:fillRect/>
          </a:stretch>
        </p:blipFill>
        <p:spPr>
          <a:xfrm>
            <a:off x="6572250" y="4286250"/>
            <a:ext cx="342900" cy="342900"/>
          </a:xfrm>
          <a:prstGeom prst="rect">
            <a:avLst/>
          </a:prstGeom>
        </p:spPr>
      </p:pic>
      <p:sp>
        <p:nvSpPr>
          <p:cNvPr id="24" name="Text 18"/>
          <p:cNvSpPr txBox="1"/>
          <p:nvPr/>
        </p:nvSpPr>
        <p:spPr>
          <a:xfrm>
            <a:off x="7269480" y="406908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Uneven datasets</a:t>
            </a:r>
            <a:endParaRPr lang="en-US" sz="2000" dirty="0"/>
          </a:p>
        </p:txBody>
      </p:sp>
      <p:sp>
        <p:nvSpPr>
          <p:cNvPr id="25" name="Text 19"/>
          <p:cNvSpPr txBox="1"/>
          <p:nvPr/>
        </p:nvSpPr>
        <p:spPr>
          <a:xfrm>
            <a:off x="7269480" y="4572000"/>
            <a:ext cx="4023360" cy="685800"/>
          </a:xfrm>
          <a:prstGeom prst="rect">
            <a:avLst/>
          </a:prstGeom>
          <a:noFill/>
          <a:ln/>
        </p:spPr>
        <p:txBody>
          <a:bodyPr wrap="square" lIns="0" tIns="0" rIns="0" bIns="0" rtlCol="0" anchor="t"/>
          <a:lstStyle/>
          <a:p>
            <a:pPr indent="0" marL="0">
              <a:buNone/>
            </a:pPr>
            <a:r>
              <a:rPr lang="en-US" sz="1400" dirty="0">
                <a:solidFill>
                  <a:schemeClr val="tx2"/>
                </a:solidFill>
              </a:rPr>
              <a:t>PA-100K is 81% of the training data, yet each test dataset counts equally.</a:t>
            </a:r>
            <a:endParaRPr lang="en-US" sz="1400" dirty="0"/>
          </a:p>
        </p:txBody>
      </p:sp>
      <p:sp>
        <p:nvSpPr>
          <p:cNvPr id="26" name="Text 20"/>
          <p:cNvSpPr txBox="1"/>
          <p:nvPr/>
        </p:nvSpPr>
        <p:spPr>
          <a:xfrm>
            <a:off x="7269480" y="5303520"/>
            <a:ext cx="4023360" cy="685800"/>
          </a:xfrm>
          <a:prstGeom prst="rect">
            <a:avLst/>
          </a:prstGeom>
          <a:noFill/>
          <a:ln/>
        </p:spPr>
        <p:txBody>
          <a:bodyPr wrap="square" lIns="0" tIns="0" rIns="0" bIns="0" rtlCol="0" anchor="t"/>
          <a:lstStyle/>
          <a:p>
            <a:pPr indent="0" marL="0">
              <a:buNone/>
            </a:pPr>
            <a:r>
              <a:rPr lang="en-US" sz="1400" b="1" dirty="0">
                <a:solidFill>
                  <a:schemeClr val="accent1"/>
                </a:solidFill>
              </a:rPr>
              <a:t>So we: </a:t>
            </a:r>
            <a:pPr indent="0" marL="0">
              <a:buNone/>
            </a:pPr>
            <a:r>
              <a:rPr lang="en-US" sz="1400" dirty="0">
                <a:solidFill>
                  <a:schemeClr val="tx1"/>
                </a:solidFill>
              </a:rPr>
              <a:t>sample the datasets more evenly and score each one on its own.</a:t>
            </a:r>
            <a:endParaRPr lang="en-US" sz="14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Our approach in five steps</a:t>
            </a:r>
            <a:endParaRPr lang="en-US" sz="3400" dirty="0"/>
          </a:p>
        </p:txBody>
      </p:sp>
      <p:sp>
        <p:nvSpPr>
          <p:cNvPr id="3" name="Step connector"/>
          <p:cNvSpPr/>
          <p:nvPr/>
        </p:nvSpPr>
        <p:spPr>
          <a:xfrm>
            <a:off x="1645920" y="1920240"/>
            <a:ext cx="8778240" cy="0"/>
          </a:xfrm>
          <a:prstGeom prst="line">
            <a:avLst/>
          </a:prstGeom>
          <a:noFill/>
          <a:ln w="31750">
            <a:solidFill>
              <a:schemeClr val="accent4"/>
            </a:solidFill>
            <a:prstDash val="solid"/>
          </a:ln>
        </p:spPr>
      </p:sp>
      <p:sp>
        <p:nvSpPr>
          <p:cNvPr id="4" name="Step 1"/>
          <p:cNvSpPr/>
          <p:nvPr/>
        </p:nvSpPr>
        <p:spPr>
          <a:xfrm>
            <a:off x="1280160" y="1554480"/>
            <a:ext cx="731520" cy="731520"/>
          </a:xfrm>
          <a:prstGeom prst="ellipse">
            <a:avLst/>
          </a:prstGeom>
          <a:solidFill>
            <a:schemeClr val="accent1"/>
          </a:solidFill>
          <a:ln/>
        </p:spPr>
      </p:sp>
      <p:sp>
        <p:nvSpPr>
          <p:cNvPr id="5" name="Text 3"/>
          <p:cNvSpPr txBox="1"/>
          <p:nvPr/>
        </p:nvSpPr>
        <p:spPr>
          <a:xfrm>
            <a:off x="1280160" y="15544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Step card Cache once"/>
          <p:cNvSpPr/>
          <p:nvPr/>
        </p:nvSpPr>
        <p:spPr>
          <a:xfrm>
            <a:off x="640080" y="2514600"/>
            <a:ext cx="2011680" cy="2377440"/>
          </a:xfrm>
          <a:prstGeom prst="roundRect">
            <a:avLst>
              <a:gd name="adj" fmla="val 6364"/>
            </a:avLst>
          </a:prstGeom>
          <a:solidFill>
            <a:schemeClr val="bg2"/>
          </a:solidFill>
          <a:ln/>
        </p:spPr>
      </p:sp>
      <p:sp>
        <p:nvSpPr>
          <p:cNvPr id="7" name="Text 5"/>
          <p:cNvSpPr txBox="1"/>
          <p:nvPr/>
        </p:nvSpPr>
        <p:spPr>
          <a:xfrm>
            <a:off x="777240" y="2651760"/>
            <a:ext cx="1737360" cy="685800"/>
          </a:xfrm>
          <a:prstGeom prst="rect">
            <a:avLst/>
          </a:prstGeom>
          <a:noFill/>
          <a:ln/>
        </p:spPr>
        <p:txBody>
          <a:bodyPr wrap="square" lIns="0" tIns="0" rIns="0" bIns="0" rtlCol="0" anchor="t"/>
          <a:lstStyle/>
          <a:p>
            <a:pPr indent="0" marL="0">
              <a:buNone/>
            </a:pPr>
            <a:r>
              <a:rPr lang="en-US" sz="1800" b="1" dirty="0">
                <a:solidFill>
                  <a:schemeClr val="tx1"/>
                </a:solidFill>
              </a:rPr>
              <a:t>Cache once</a:t>
            </a:r>
            <a:endParaRPr lang="en-US" sz="1800" dirty="0"/>
          </a:p>
        </p:txBody>
      </p:sp>
      <p:sp>
        <p:nvSpPr>
          <p:cNvPr id="8" name="Text 6"/>
          <p:cNvSpPr txBox="1"/>
          <p:nvPr/>
        </p:nvSpPr>
        <p:spPr>
          <a:xfrm>
            <a:off x="777240" y="3337560"/>
            <a:ext cx="1737360" cy="1463040"/>
          </a:xfrm>
          <a:prstGeom prst="rect">
            <a:avLst/>
          </a:prstGeom>
          <a:noFill/>
          <a:ln/>
        </p:spPr>
        <p:txBody>
          <a:bodyPr wrap="square" lIns="0" tIns="0" rIns="0" bIns="0" rtlCol="0" anchor="t"/>
          <a:lstStyle/>
          <a:p>
            <a:pPr indent="0" marL="0">
              <a:buNone/>
            </a:pPr>
            <a:r>
              <a:rPr lang="en-US" sz="1400" dirty="0">
                <a:solidFill>
                  <a:schemeClr val="tx2"/>
                </a:solidFill>
              </a:rPr>
              <a:t>Resize every crop to 192x96 and store it, so training never waits on image decoding.</a:t>
            </a:r>
            <a:endParaRPr lang="en-US" sz="1400" dirty="0"/>
          </a:p>
        </p:txBody>
      </p:sp>
      <p:sp>
        <p:nvSpPr>
          <p:cNvPr id="9" name="Step 2"/>
          <p:cNvSpPr/>
          <p:nvPr/>
        </p:nvSpPr>
        <p:spPr>
          <a:xfrm>
            <a:off x="3474720" y="1554480"/>
            <a:ext cx="731520" cy="731520"/>
          </a:xfrm>
          <a:prstGeom prst="ellipse">
            <a:avLst/>
          </a:prstGeom>
          <a:solidFill>
            <a:schemeClr val="accent1"/>
          </a:solidFill>
          <a:ln/>
        </p:spPr>
      </p:sp>
      <p:sp>
        <p:nvSpPr>
          <p:cNvPr id="10" name="Text 8"/>
          <p:cNvSpPr txBox="1"/>
          <p:nvPr/>
        </p:nvSpPr>
        <p:spPr>
          <a:xfrm>
            <a:off x="3474720" y="15544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Step card Augment on the GPU"/>
          <p:cNvSpPr/>
          <p:nvPr/>
        </p:nvSpPr>
        <p:spPr>
          <a:xfrm>
            <a:off x="2834640" y="2514600"/>
            <a:ext cx="2011680" cy="2377440"/>
          </a:xfrm>
          <a:prstGeom prst="roundRect">
            <a:avLst>
              <a:gd name="adj" fmla="val 6364"/>
            </a:avLst>
          </a:prstGeom>
          <a:solidFill>
            <a:schemeClr val="bg2"/>
          </a:solidFill>
          <a:ln/>
        </p:spPr>
      </p:sp>
      <p:sp>
        <p:nvSpPr>
          <p:cNvPr id="12" name="Text 10"/>
          <p:cNvSpPr txBox="1"/>
          <p:nvPr/>
        </p:nvSpPr>
        <p:spPr>
          <a:xfrm>
            <a:off x="2971800" y="2651760"/>
            <a:ext cx="1737360" cy="685800"/>
          </a:xfrm>
          <a:prstGeom prst="rect">
            <a:avLst/>
          </a:prstGeom>
          <a:noFill/>
          <a:ln/>
        </p:spPr>
        <p:txBody>
          <a:bodyPr wrap="square" lIns="0" tIns="0" rIns="0" bIns="0" rtlCol="0" anchor="t"/>
          <a:lstStyle/>
          <a:p>
            <a:pPr indent="0" marL="0">
              <a:buNone/>
            </a:pPr>
            <a:r>
              <a:rPr lang="en-US" sz="1800" b="1" dirty="0">
                <a:solidFill>
                  <a:schemeClr val="tx1"/>
                </a:solidFill>
              </a:rPr>
              <a:t>Augment on the GPU</a:t>
            </a:r>
            <a:endParaRPr lang="en-US" sz="1800" dirty="0"/>
          </a:p>
        </p:txBody>
      </p:sp>
      <p:sp>
        <p:nvSpPr>
          <p:cNvPr id="13" name="Text 11"/>
          <p:cNvSpPr txBox="1"/>
          <p:nvPr/>
        </p:nvSpPr>
        <p:spPr>
          <a:xfrm>
            <a:off x="2971800" y="3337560"/>
            <a:ext cx="1737360" cy="1463040"/>
          </a:xfrm>
          <a:prstGeom prst="rect">
            <a:avLst/>
          </a:prstGeom>
          <a:noFill/>
          <a:ln/>
        </p:spPr>
        <p:txBody>
          <a:bodyPr wrap="square" lIns="0" tIns="0" rIns="0" bIns="0" rtlCol="0" anchor="t"/>
          <a:lstStyle/>
          <a:p>
            <a:pPr indent="0" marL="0">
              <a:buNone/>
            </a:pPr>
            <a:r>
              <a:rPr lang="en-US" sz="1400" dirty="0">
                <a:solidFill>
                  <a:schemeClr val="tx2"/>
                </a:solidFill>
              </a:rPr>
              <a:t>Flips, small shifts, brightness, blur and erasing. We never change hue, because colour is a label.</a:t>
            </a:r>
            <a:endParaRPr lang="en-US" sz="1400" dirty="0"/>
          </a:p>
        </p:txBody>
      </p:sp>
      <p:sp>
        <p:nvSpPr>
          <p:cNvPr id="14" name="Step 3"/>
          <p:cNvSpPr/>
          <p:nvPr/>
        </p:nvSpPr>
        <p:spPr>
          <a:xfrm>
            <a:off x="5669280" y="1554480"/>
            <a:ext cx="731520" cy="731520"/>
          </a:xfrm>
          <a:prstGeom prst="ellipse">
            <a:avLst/>
          </a:prstGeom>
          <a:solidFill>
            <a:schemeClr val="accent1"/>
          </a:solidFill>
          <a:ln/>
        </p:spPr>
      </p:sp>
      <p:sp>
        <p:nvSpPr>
          <p:cNvPr id="15" name="Text 13"/>
          <p:cNvSpPr txBox="1"/>
          <p:nvPr/>
        </p:nvSpPr>
        <p:spPr>
          <a:xfrm>
            <a:off x="5669280" y="15544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Step card Fine-tune CLIP"/>
          <p:cNvSpPr/>
          <p:nvPr/>
        </p:nvSpPr>
        <p:spPr>
          <a:xfrm>
            <a:off x="5029200" y="2514600"/>
            <a:ext cx="2011680" cy="2377440"/>
          </a:xfrm>
          <a:prstGeom prst="roundRect">
            <a:avLst>
              <a:gd name="adj" fmla="val 6364"/>
            </a:avLst>
          </a:prstGeom>
          <a:solidFill>
            <a:schemeClr val="bg2"/>
          </a:solidFill>
          <a:ln/>
        </p:spPr>
      </p:sp>
      <p:sp>
        <p:nvSpPr>
          <p:cNvPr id="17" name="Text 15"/>
          <p:cNvSpPr txBox="1"/>
          <p:nvPr/>
        </p:nvSpPr>
        <p:spPr>
          <a:xfrm>
            <a:off x="5166360" y="2651760"/>
            <a:ext cx="1737360" cy="685800"/>
          </a:xfrm>
          <a:prstGeom prst="rect">
            <a:avLst/>
          </a:prstGeom>
          <a:noFill/>
          <a:ln/>
        </p:spPr>
        <p:txBody>
          <a:bodyPr wrap="square" lIns="0" tIns="0" rIns="0" bIns="0" rtlCol="0" anchor="t"/>
          <a:lstStyle/>
          <a:p>
            <a:pPr indent="0" marL="0">
              <a:buNone/>
            </a:pPr>
            <a:r>
              <a:rPr lang="en-US" sz="1800" b="1" dirty="0">
                <a:solidFill>
                  <a:schemeClr val="tx1"/>
                </a:solidFill>
              </a:rPr>
              <a:t>Fine-tune CLIP</a:t>
            </a:r>
            <a:endParaRPr lang="en-US" sz="1800" dirty="0"/>
          </a:p>
        </p:txBody>
      </p:sp>
      <p:sp>
        <p:nvSpPr>
          <p:cNvPr id="18" name="Text 16"/>
          <p:cNvSpPr txBox="1"/>
          <p:nvPr/>
        </p:nvSpPr>
        <p:spPr>
          <a:xfrm>
            <a:off x="5166360" y="3337560"/>
            <a:ext cx="1737360" cy="1463040"/>
          </a:xfrm>
          <a:prstGeom prst="rect">
            <a:avLst/>
          </a:prstGeom>
          <a:noFill/>
          <a:ln/>
        </p:spPr>
        <p:txBody>
          <a:bodyPr wrap="square" lIns="0" tIns="0" rIns="0" bIns="0" rtlCol="0" anchor="t"/>
          <a:lstStyle/>
          <a:p>
            <a:pPr indent="0" marL="0">
              <a:buNone/>
            </a:pPr>
            <a:r>
              <a:rPr lang="en-US" sz="1400" dirty="0">
                <a:solidFill>
                  <a:schemeClr val="tx2"/>
                </a:solidFill>
              </a:rPr>
              <a:t>CLIP ViT-L/14 (B/16 earlier) with a gentle learning rate for the early layers and a masked, weighted loss.</a:t>
            </a:r>
            <a:endParaRPr lang="en-US" sz="1400" dirty="0"/>
          </a:p>
        </p:txBody>
      </p:sp>
      <p:sp>
        <p:nvSpPr>
          <p:cNvPr id="19" name="Step 4"/>
          <p:cNvSpPr/>
          <p:nvPr/>
        </p:nvSpPr>
        <p:spPr>
          <a:xfrm>
            <a:off x="7863840" y="1554480"/>
            <a:ext cx="731520" cy="731520"/>
          </a:xfrm>
          <a:prstGeom prst="ellipse">
            <a:avLst/>
          </a:prstGeom>
          <a:solidFill>
            <a:schemeClr val="accent1"/>
          </a:solidFill>
          <a:ln/>
        </p:spPr>
      </p:sp>
      <p:sp>
        <p:nvSpPr>
          <p:cNvPr id="20" name="Text 18"/>
          <p:cNvSpPr txBox="1"/>
          <p:nvPr/>
        </p:nvSpPr>
        <p:spPr>
          <a:xfrm>
            <a:off x="7863840" y="15544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1" name="Step card Use all the labels"/>
          <p:cNvSpPr/>
          <p:nvPr/>
        </p:nvSpPr>
        <p:spPr>
          <a:xfrm>
            <a:off x="7223760" y="2514600"/>
            <a:ext cx="2011680" cy="2377440"/>
          </a:xfrm>
          <a:prstGeom prst="roundRect">
            <a:avLst>
              <a:gd name="adj" fmla="val 6364"/>
            </a:avLst>
          </a:prstGeom>
          <a:solidFill>
            <a:schemeClr val="bg2"/>
          </a:solidFill>
          <a:ln/>
        </p:spPr>
      </p:sp>
      <p:sp>
        <p:nvSpPr>
          <p:cNvPr id="22" name="Text 20"/>
          <p:cNvSpPr txBox="1"/>
          <p:nvPr/>
        </p:nvSpPr>
        <p:spPr>
          <a:xfrm>
            <a:off x="7360920" y="2651760"/>
            <a:ext cx="1737360" cy="685800"/>
          </a:xfrm>
          <a:prstGeom prst="rect">
            <a:avLst/>
          </a:prstGeom>
          <a:noFill/>
          <a:ln/>
        </p:spPr>
        <p:txBody>
          <a:bodyPr wrap="square" lIns="0" tIns="0" rIns="0" bIns="0" rtlCol="0" anchor="t"/>
          <a:lstStyle/>
          <a:p>
            <a:pPr indent="0" marL="0">
              <a:buNone/>
            </a:pPr>
            <a:r>
              <a:rPr lang="en-US" sz="1800" b="1" dirty="0">
                <a:solidFill>
                  <a:schemeClr val="tx1"/>
                </a:solidFill>
              </a:rPr>
              <a:t>Use all the labels</a:t>
            </a:r>
            <a:endParaRPr lang="en-US" sz="1800" dirty="0"/>
          </a:p>
        </p:txBody>
      </p:sp>
      <p:sp>
        <p:nvSpPr>
          <p:cNvPr id="23" name="Text 21"/>
          <p:cNvSpPr txBox="1"/>
          <p:nvPr/>
        </p:nvSpPr>
        <p:spPr>
          <a:xfrm>
            <a:off x="7360920" y="3337560"/>
            <a:ext cx="1737360" cy="1463040"/>
          </a:xfrm>
          <a:prstGeom prst="rect">
            <a:avLst/>
          </a:prstGeom>
          <a:noFill/>
          <a:ln/>
        </p:spPr>
        <p:txBody>
          <a:bodyPr wrap="square" lIns="0" tIns="0" rIns="0" bIns="0" rtlCol="0" anchor="t"/>
          <a:lstStyle/>
          <a:p>
            <a:pPr indent="0" marL="0">
              <a:buNone/>
            </a:pPr>
            <a:r>
              <a:rPr lang="en-US" sz="1400" dirty="0">
                <a:solidFill>
                  <a:schemeClr val="tx2"/>
                </a:solidFill>
              </a:rPr>
              <a:t>The final models are retrained on training plus validation data, which the rules allow.</a:t>
            </a:r>
            <a:endParaRPr lang="en-US" sz="1400" dirty="0"/>
          </a:p>
        </p:txBody>
      </p:sp>
      <p:sp>
        <p:nvSpPr>
          <p:cNvPr id="24" name="Step 5"/>
          <p:cNvSpPr/>
          <p:nvPr/>
        </p:nvSpPr>
        <p:spPr>
          <a:xfrm>
            <a:off x="10058400" y="1554480"/>
            <a:ext cx="731520" cy="731520"/>
          </a:xfrm>
          <a:prstGeom prst="ellipse">
            <a:avLst/>
          </a:prstGeom>
          <a:solidFill>
            <a:schemeClr val="accent1"/>
          </a:solidFill>
          <a:ln/>
        </p:spPr>
      </p:sp>
      <p:sp>
        <p:nvSpPr>
          <p:cNvPr id="25" name="Text 23"/>
          <p:cNvSpPr txBox="1"/>
          <p:nvPr/>
        </p:nvSpPr>
        <p:spPr>
          <a:xfrm>
            <a:off x="10058400" y="15544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6" name="Step card Average two models"/>
          <p:cNvSpPr/>
          <p:nvPr/>
        </p:nvSpPr>
        <p:spPr>
          <a:xfrm>
            <a:off x="9418320" y="2514600"/>
            <a:ext cx="2011680" cy="2377440"/>
          </a:xfrm>
          <a:prstGeom prst="roundRect">
            <a:avLst>
              <a:gd name="adj" fmla="val 6364"/>
            </a:avLst>
          </a:prstGeom>
          <a:solidFill>
            <a:schemeClr val="bg2"/>
          </a:solidFill>
          <a:ln/>
        </p:spPr>
      </p:sp>
      <p:sp>
        <p:nvSpPr>
          <p:cNvPr id="27" name="Text 25"/>
          <p:cNvSpPr txBox="1"/>
          <p:nvPr/>
        </p:nvSpPr>
        <p:spPr>
          <a:xfrm>
            <a:off x="9555480" y="2651760"/>
            <a:ext cx="1737360" cy="685800"/>
          </a:xfrm>
          <a:prstGeom prst="rect">
            <a:avLst/>
          </a:prstGeom>
          <a:noFill/>
          <a:ln/>
        </p:spPr>
        <p:txBody>
          <a:bodyPr wrap="square" lIns="0" tIns="0" rIns="0" bIns="0" rtlCol="0" anchor="t"/>
          <a:lstStyle/>
          <a:p>
            <a:pPr indent="0" marL="0">
              <a:buNone/>
            </a:pPr>
            <a:r>
              <a:rPr lang="en-US" sz="1800" b="1" dirty="0">
                <a:solidFill>
                  <a:schemeClr val="tx1"/>
                </a:solidFill>
              </a:rPr>
              <a:t>Average two models</a:t>
            </a:r>
            <a:endParaRPr lang="en-US" sz="1800" dirty="0"/>
          </a:p>
        </p:txBody>
      </p:sp>
      <p:sp>
        <p:nvSpPr>
          <p:cNvPr id="28" name="Text 26"/>
          <p:cNvSpPr txBox="1"/>
          <p:nvPr/>
        </p:nvSpPr>
        <p:spPr>
          <a:xfrm>
            <a:off x="9555480" y="3337560"/>
            <a:ext cx="1737360" cy="1463040"/>
          </a:xfrm>
          <a:prstGeom prst="rect">
            <a:avLst/>
          </a:prstGeom>
          <a:noFill/>
          <a:ln/>
        </p:spPr>
        <p:txBody>
          <a:bodyPr wrap="square" lIns="0" tIns="0" rIns="0" bIns="0" rtlCol="0" anchor="t"/>
          <a:lstStyle/>
          <a:p>
            <a:pPr indent="0" marL="0">
              <a:buNone/>
            </a:pPr>
            <a:r>
              <a:rPr lang="en-US" sz="1400" dirty="0">
                <a:solidFill>
                  <a:schemeClr val="tx2"/>
                </a:solidFill>
              </a:rPr>
              <a:t>Two CLIP L/14 models are averaged and cut at the fixed 0.5 threshold.</a:t>
            </a:r>
            <a:endParaRPr lang="en-US" sz="1400" dirty="0"/>
          </a:p>
        </p:txBody>
      </p:sp>
      <p:sp>
        <p:nvSpPr>
          <p:cNvPr id="29" name="Compute banner"/>
          <p:cNvSpPr/>
          <p:nvPr/>
        </p:nvSpPr>
        <p:spPr>
          <a:xfrm>
            <a:off x="640080" y="5257800"/>
            <a:ext cx="10881360" cy="777240"/>
          </a:xfrm>
          <a:prstGeom prst="roundRect">
            <a:avLst>
              <a:gd name="adj" fmla="val 16471"/>
            </a:avLst>
          </a:prstGeom>
          <a:solidFill>
            <a:schemeClr val="bg2"/>
          </a:solidFill>
          <a:ln/>
        </p:spPr>
      </p:sp>
      <p:pic>
        <p:nvPicPr>
          <p:cNvPr id="30" name="Image 0" descr="Cloud">    </p:cNvPr>
          <p:cNvPicPr>
            <a:picLocks noChangeAspect="1"/>
          </p:cNvPicPr>
          <p:nvPr/>
        </p:nvPicPr>
        <p:blipFill>
          <a:blip r:embed="rId1"/>
          <a:stretch>
            <a:fillRect/>
          </a:stretch>
        </p:blipFill>
        <p:spPr>
          <a:xfrm>
            <a:off x="914400" y="5463540"/>
            <a:ext cx="365760" cy="365760"/>
          </a:xfrm>
          <a:prstGeom prst="rect">
            <a:avLst/>
          </a:prstGeom>
        </p:spPr>
      </p:pic>
      <p:sp>
        <p:nvSpPr>
          <p:cNvPr id="31" name="Text 28"/>
          <p:cNvSpPr txBox="1"/>
          <p:nvPr/>
        </p:nvSpPr>
        <p:spPr>
          <a:xfrm>
            <a:off x="1463040" y="5257800"/>
            <a:ext cx="9875520" cy="777240"/>
          </a:xfrm>
          <a:prstGeom prst="rect">
            <a:avLst/>
          </a:prstGeom>
          <a:noFill/>
          <a:ln/>
        </p:spPr>
        <p:txBody>
          <a:bodyPr wrap="square" lIns="0" tIns="0" rIns="0" bIns="0" rtlCol="0" anchor="ctr"/>
          <a:lstStyle/>
          <a:p>
            <a:pPr indent="0" marL="0">
              <a:buNone/>
            </a:pPr>
            <a:r>
              <a:rPr lang="en-US" sz="1600" dirty="0">
                <a:solidFill>
                  <a:schemeClr val="tx1"/>
                </a:solidFill>
              </a:rPr>
              <a:t>All of it ran on free Colab T4 GPUs, with three accounts running experiments in parallel.</a:t>
            </a:r>
            <a:endParaRPr lang="en-US" sz="16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Held-out test: CLIP clearly beats ConvNeXt</a:t>
            </a:r>
            <a:endParaRPr lang="en-US" sz="3400" dirty="0"/>
          </a:p>
        </p:txBody>
      </p:sp>
      <p:graphicFrame>
        <p:nvGraphicFramePr>
          <p:cNvPr id="3" name="Chart 0" descr=""/>
          <p:cNvGraphicFramePr/>
          <p:nvPr/>
        </p:nvGraphicFramePr>
        <p:xfrm>
          <a:off x="640080" y="146304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852160"/>
            <a:ext cx="6949440" cy="365760"/>
          </a:xfrm>
          <a:prstGeom prst="rect">
            <a:avLst/>
          </a:prstGeom>
          <a:noFill/>
          <a:ln/>
        </p:spPr>
        <p:txBody>
          <a:bodyPr wrap="square" lIns="0" tIns="0" rIns="0" bIns="0" rtlCol="0" anchor="ctr"/>
          <a:lstStyle/>
          <a:p>
            <a:pPr indent="0" marL="0">
              <a:buNone/>
            </a:pPr>
            <a:r>
              <a:rPr lang="en-US" sz="1200" dirty="0">
                <a:solidFill>
                  <a:schemeClr val="tx2"/>
                </a:solidFill>
              </a:rPr>
              <a:t>Challenge_Avg on PETA when it is held out of training. The axis starts at 0.70.</a:t>
            </a:r>
            <a:endParaRPr lang="en-US" sz="1200" dirty="0"/>
          </a:p>
        </p:txBody>
      </p:sp>
      <p:sp>
        <p:nvSpPr>
          <p:cNvPr id="5" name="Gain card"/>
          <p:cNvSpPr/>
          <p:nvPr/>
        </p:nvSpPr>
        <p:spPr>
          <a:xfrm>
            <a:off x="7955280" y="1463040"/>
            <a:ext cx="3566160" cy="2057400"/>
          </a:xfrm>
          <a:prstGeom prst="roundRect">
            <a:avLst>
              <a:gd name="adj" fmla="val 6222"/>
            </a:avLst>
          </a:prstGeom>
          <a:solidFill>
            <a:schemeClr val="bg2"/>
          </a:solidFill>
          <a:ln/>
        </p:spPr>
      </p:sp>
      <p:sp>
        <p:nvSpPr>
          <p:cNvPr id="6" name="Text 3"/>
          <p:cNvSpPr txBox="1"/>
          <p:nvPr/>
        </p:nvSpPr>
        <p:spPr>
          <a:xfrm>
            <a:off x="8183880" y="1554480"/>
            <a:ext cx="3108960" cy="914400"/>
          </a:xfrm>
          <a:prstGeom prst="rect">
            <a:avLst/>
          </a:prstGeom>
          <a:noFill/>
          <a:ln/>
        </p:spPr>
        <p:txBody>
          <a:bodyPr wrap="square" lIns="0" tIns="0" rIns="0" bIns="0" rtlCol="0" anchor="ctr"/>
          <a:lstStyle/>
          <a:p>
            <a:pPr indent="0" marL="0">
              <a:buNone/>
            </a:pPr>
            <a:r>
              <a:rPr lang="en-US" sz="4800" b="1" dirty="0">
                <a:solidFill>
                  <a:schemeClr val="accent1"/>
                </a:solidFill>
              </a:rPr>
              <a:t>+0.04</a:t>
            </a:r>
            <a:endParaRPr lang="en-US" sz="4800" dirty="0"/>
          </a:p>
        </p:txBody>
      </p:sp>
      <p:sp>
        <p:nvSpPr>
          <p:cNvPr id="7" name="Text 4"/>
          <p:cNvSpPr txBox="1"/>
          <p:nvPr/>
        </p:nvSpPr>
        <p:spPr>
          <a:xfrm>
            <a:off x="8183880" y="2468880"/>
            <a:ext cx="3108960" cy="914400"/>
          </a:xfrm>
          <a:prstGeom prst="rect">
            <a:avLst/>
          </a:prstGeom>
          <a:noFill/>
          <a:ln/>
        </p:spPr>
        <p:txBody>
          <a:bodyPr wrap="square" lIns="0" tIns="0" rIns="0" bIns="0" rtlCol="0" anchor="t"/>
          <a:lstStyle/>
          <a:p>
            <a:pPr indent="0" marL="0">
              <a:buNone/>
            </a:pPr>
            <a:r>
              <a:rPr lang="en-US" sz="1400" dirty="0">
                <a:solidFill>
                  <a:schemeClr val="tx2"/>
                </a:solidFill>
              </a:rPr>
              <a:t>from switching ConvNeXt to CLIP on the dataset the model never saw</a:t>
            </a:r>
            <a:endParaRPr lang="en-US" sz="1400" dirty="0"/>
          </a:p>
        </p:txBody>
      </p:sp>
      <p:sp>
        <p:nvSpPr>
          <p:cNvPr id="8" name="Schedule card"/>
          <p:cNvSpPr/>
          <p:nvPr/>
        </p:nvSpPr>
        <p:spPr>
          <a:xfrm>
            <a:off x="7955280" y="3749040"/>
            <a:ext cx="3566160" cy="2057400"/>
          </a:xfrm>
          <a:prstGeom prst="roundRect">
            <a:avLst>
              <a:gd name="adj" fmla="val 6222"/>
            </a:avLst>
          </a:prstGeom>
          <a:solidFill>
            <a:schemeClr val="bg2"/>
          </a:solidFill>
          <a:ln/>
        </p:spPr>
      </p:sp>
      <p:sp>
        <p:nvSpPr>
          <p:cNvPr id="9" name="Text 6"/>
          <p:cNvSpPr txBox="1"/>
          <p:nvPr/>
        </p:nvSpPr>
        <p:spPr>
          <a:xfrm>
            <a:off x="8183880" y="3840480"/>
            <a:ext cx="3108960" cy="914400"/>
          </a:xfrm>
          <a:prstGeom prst="rect">
            <a:avLst/>
          </a:prstGeom>
          <a:noFill/>
          <a:ln/>
        </p:spPr>
        <p:txBody>
          <a:bodyPr wrap="square" lIns="0" tIns="0" rIns="0" bIns="0" rtlCol="0" anchor="ctr"/>
          <a:lstStyle/>
          <a:p>
            <a:pPr indent="0" marL="0">
              <a:buNone/>
            </a:pPr>
            <a:r>
              <a:rPr lang="en-US" sz="4000" b="1" dirty="0">
                <a:solidFill>
                  <a:schemeClr val="accent1"/>
                </a:solidFill>
              </a:rPr>
              <a:t>8 beats 34</a:t>
            </a:r>
            <a:endParaRPr lang="en-US" sz="4000" dirty="0"/>
          </a:p>
        </p:txBody>
      </p:sp>
      <p:sp>
        <p:nvSpPr>
          <p:cNvPr id="10" name="Text 7"/>
          <p:cNvSpPr txBox="1"/>
          <p:nvPr/>
        </p:nvSpPr>
        <p:spPr>
          <a:xfrm>
            <a:off x="8183880" y="4754880"/>
            <a:ext cx="3108960" cy="914400"/>
          </a:xfrm>
          <a:prstGeom prst="rect">
            <a:avLst/>
          </a:prstGeom>
          <a:noFill/>
          <a:ln/>
        </p:spPr>
        <p:txBody>
          <a:bodyPr wrap="square" lIns="0" tIns="0" rIns="0" bIns="0" rtlCol="0" anchor="t"/>
          <a:lstStyle/>
          <a:p>
            <a:pPr indent="0" marL="0">
              <a:buNone/>
            </a:pPr>
            <a:r>
              <a:rPr lang="en-US" sz="1400" dirty="0">
                <a:solidFill>
                  <a:schemeClr val="tx2"/>
                </a:solidFill>
              </a:rPr>
              <a:t>epochs: a short schedule scored higher than a long one, which overfit</a:t>
            </a:r>
            <a:endParaRPr lang="en-US" sz="14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On the leaderboard: from 0.50 to 0.78</a:t>
            </a:r>
            <a:endParaRPr lang="en-US" sz="3400" dirty="0"/>
          </a:p>
        </p:txBody>
      </p:sp>
      <p:graphicFrame>
        <p:nvGraphicFramePr>
          <p:cNvPr id="3" name="Chart 0" descr=""/>
          <p:cNvGraphicFramePr/>
          <p:nvPr/>
        </p:nvGraphicFramePr>
        <p:xfrm>
          <a:off x="640080" y="146304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5852160"/>
            <a:ext cx="6949440" cy="365760"/>
          </a:xfrm>
          <a:prstGeom prst="rect">
            <a:avLst/>
          </a:prstGeom>
          <a:noFill/>
          <a:ln/>
        </p:spPr>
        <p:txBody>
          <a:bodyPr wrap="square" lIns="0" tIns="0" rIns="0" bIns="0" rtlCol="0" anchor="ctr"/>
          <a:lstStyle/>
          <a:p>
            <a:pPr indent="0" marL="0">
              <a:buNone/>
            </a:pPr>
            <a:r>
              <a:rPr lang="en-US" sz="1200" dirty="0">
                <a:solidFill>
                  <a:schemeClr val="tx2"/>
                </a:solidFill>
              </a:rPr>
              <a:t>Challenge_Avg on the hidden test set, one Codabench submission each. The 2 x L/14 bar is the final submission.</a:t>
            </a:r>
            <a:endParaRPr lang="en-US" sz="1200" dirty="0"/>
          </a:p>
        </p:txBody>
      </p:sp>
      <p:sp>
        <p:nvSpPr>
          <p:cNvPr id="5" name="Rank card"/>
          <p:cNvSpPr/>
          <p:nvPr/>
        </p:nvSpPr>
        <p:spPr>
          <a:xfrm>
            <a:off x="7955280" y="1463040"/>
            <a:ext cx="3566160" cy="1783080"/>
          </a:xfrm>
          <a:prstGeom prst="roundRect">
            <a:avLst>
              <a:gd name="adj" fmla="val 7179"/>
            </a:avLst>
          </a:prstGeom>
          <a:solidFill>
            <a:schemeClr val="bg2"/>
          </a:solidFill>
          <a:ln/>
        </p:spPr>
      </p:sp>
      <p:sp>
        <p:nvSpPr>
          <p:cNvPr id="6" name="Text 3"/>
          <p:cNvSpPr txBox="1"/>
          <p:nvPr/>
        </p:nvSpPr>
        <p:spPr>
          <a:xfrm>
            <a:off x="8183880" y="1554480"/>
            <a:ext cx="3108960" cy="914400"/>
          </a:xfrm>
          <a:prstGeom prst="rect">
            <a:avLst/>
          </a:prstGeom>
          <a:noFill/>
          <a:ln/>
        </p:spPr>
        <p:txBody>
          <a:bodyPr wrap="square" lIns="0" tIns="0" rIns="0" bIns="0" rtlCol="0" anchor="ctr"/>
          <a:lstStyle/>
          <a:p>
            <a:pPr indent="0" marL="0">
              <a:buNone/>
            </a:pPr>
            <a:r>
              <a:rPr lang="en-US" sz="4400" b="1" dirty="0">
                <a:solidFill>
                  <a:schemeClr val="accent1"/>
                </a:solidFill>
              </a:rPr>
              <a:t>Rank 42</a:t>
            </a:r>
            <a:endParaRPr lang="en-US" sz="4400" dirty="0"/>
          </a:p>
        </p:txBody>
      </p:sp>
      <p:sp>
        <p:nvSpPr>
          <p:cNvPr id="7" name="Text 4"/>
          <p:cNvSpPr txBox="1"/>
          <p:nvPr/>
        </p:nvSpPr>
        <p:spPr>
          <a:xfrm>
            <a:off x="8183880" y="2468880"/>
            <a:ext cx="3108960" cy="640080"/>
          </a:xfrm>
          <a:prstGeom prst="rect">
            <a:avLst/>
          </a:prstGeom>
          <a:noFill/>
          <a:ln/>
        </p:spPr>
        <p:txBody>
          <a:bodyPr wrap="square" lIns="0" tIns="0" rIns="0" bIns="0" rtlCol="0" anchor="t"/>
          <a:lstStyle/>
          <a:p>
            <a:pPr indent="0" marL="0">
              <a:buNone/>
            </a:pPr>
            <a:r>
              <a:rPr lang="en-US" sz="1400" dirty="0">
                <a:solidFill>
                  <a:schemeClr val="tx2"/>
                </a:solidFill>
              </a:rPr>
              <a:t>The best score on the board was 0.8021.</a:t>
            </a:r>
            <a:endParaRPr lang="en-US" sz="1400" dirty="0"/>
          </a:p>
        </p:txBody>
      </p:sp>
      <p:sp>
        <p:nvSpPr>
          <p:cNvPr id="8" name="Did not help card"/>
          <p:cNvSpPr/>
          <p:nvPr/>
        </p:nvSpPr>
        <p:spPr>
          <a:xfrm>
            <a:off x="7955280" y="3474720"/>
            <a:ext cx="3566160" cy="2331720"/>
          </a:xfrm>
          <a:prstGeom prst="roundRect">
            <a:avLst>
              <a:gd name="adj" fmla="val 5490"/>
            </a:avLst>
          </a:prstGeom>
          <a:solidFill>
            <a:schemeClr val="bg2"/>
          </a:solidFill>
          <a:ln/>
        </p:spPr>
      </p:sp>
      <p:sp>
        <p:nvSpPr>
          <p:cNvPr id="9" name="Text 6"/>
          <p:cNvSpPr txBox="1"/>
          <p:nvPr/>
        </p:nvSpPr>
        <p:spPr>
          <a:xfrm>
            <a:off x="8183880" y="3566160"/>
            <a:ext cx="3108960" cy="411480"/>
          </a:xfrm>
          <a:prstGeom prst="rect">
            <a:avLst/>
          </a:prstGeom>
          <a:noFill/>
          <a:ln/>
        </p:spPr>
        <p:txBody>
          <a:bodyPr wrap="square" lIns="0" tIns="0" rIns="0" bIns="0" rtlCol="0" anchor="ctr"/>
          <a:lstStyle/>
          <a:p>
            <a:pPr indent="0" marL="0">
              <a:buNone/>
            </a:pPr>
            <a:r>
              <a:rPr lang="en-US" sz="1800" b="1" dirty="0">
                <a:solidFill>
                  <a:schemeClr val="tx1"/>
                </a:solidFill>
              </a:rPr>
              <a:t>What did not help</a:t>
            </a:r>
            <a:endParaRPr lang="en-US" sz="1800" dirty="0"/>
          </a:p>
        </p:txBody>
      </p:sp>
      <p:sp>
        <p:nvSpPr>
          <p:cNvPr id="10" name="Text 7"/>
          <p:cNvSpPr txBox="1"/>
          <p:nvPr/>
        </p:nvSpPr>
        <p:spPr>
          <a:xfrm>
            <a:off x="8183880" y="4023360"/>
            <a:ext cx="310896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Longer training</a:t>
            </a:r>
            <a:endParaRPr lang="en-US" sz="1400" dirty="0"/>
          </a:p>
          <a:p>
            <a:pPr marL="342900" indent="-342900">
              <a:spcAft>
                <a:spcPts val="600"/>
              </a:spcAft>
              <a:buSzPct val="100000"/>
              <a:buChar char="•"/>
            </a:pPr>
            <a:r>
              <a:rPr lang="en-US" sz="1400" dirty="0">
                <a:solidFill>
                  <a:schemeClr val="tx2"/>
                </a:solidFill>
              </a:rPr>
              <a:t>Tuning thresholds per attribute</a:t>
            </a:r>
            <a:endParaRPr lang="en-US" sz="1400" dirty="0"/>
          </a:p>
          <a:p>
            <a:pPr marL="342900" indent="-342900">
              <a:spcAft>
                <a:spcPts val="600"/>
              </a:spcAft>
              <a:buSzPct val="100000"/>
              <a:buChar char="•"/>
            </a:pPr>
            <a:r>
              <a:rPr lang="en-US" sz="1400" dirty="0">
                <a:solidFill>
                  <a:schemeClr val="tx2"/>
                </a:solidFill>
              </a:rPr>
              <a:t>Mixing ConvNeXt into the ensemble</a:t>
            </a:r>
            <a:endParaRPr lang="en-US" sz="1400" dirty="0"/>
          </a:p>
          <a:p>
            <a:pPr marL="342900" indent="-342900">
              <a:spcAft>
                <a:spcPts val="600"/>
              </a:spcAft>
              <a:buSzPct val="100000"/>
              <a:buChar char="•"/>
            </a:pPr>
            <a:r>
              <a:rPr lang="en-US" sz="1400" dirty="0">
                <a:solidFill>
                  <a:schemeClr val="tx2"/>
                </a:solidFill>
              </a:rPr>
              <a:t>Averaging two L/14 models</a:t>
            </a:r>
            <a:endParaRPr lang="en-US" sz="1400" dirty="0"/>
          </a:p>
        </p:txBody>
      </p:sp>
      <p:sp>
        <p:nvSpPr>
          <p:cNvPr id="25" name="Slide Number Placeholder 0"/>
          <p:cNvSpPr>
            <a:spLocks noGrp="1"/>
          </p:cNvSpPr>
          <p:nvPr>
            <p:ph type="sldNum" sz="quarter" idx="4294967295"/>
          </p:nvPr>
        </p:nvSpPr>
        <p:spPr>
          <a:xfrm>
            <a:off x="10972800" y="640080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68680"/>
          </a:xfrm>
          <a:prstGeom prst="rect">
            <a:avLst/>
          </a:prstGeom>
          <a:noFill/>
          <a:ln/>
        </p:spPr>
        <p:txBody>
          <a:bodyPr wrap="square" lIns="0" tIns="0" rIns="0" bIns="0" rtlCol="0" anchor="ctr"/>
          <a:lstStyle/>
          <a:p>
            <a:pPr algn="l" indent="0" marL="0">
              <a:buNone/>
            </a:pPr>
            <a:r>
              <a:rPr lang="en-US" sz="3400" b="1" dirty="0">
                <a:solidFill>
                  <a:schemeClr val="bg1"/>
                </a:solidFill>
              </a:rPr>
              <a:t>What we learned, and what comes next</a:t>
            </a:r>
            <a:endParaRPr lang="en-US" sz="3400" dirty="0"/>
          </a:p>
        </p:txBody>
      </p:sp>
      <p:sp>
        <p:nvSpPr>
          <p:cNvPr id="3" name="Limits panel"/>
          <p:cNvSpPr/>
          <p:nvPr/>
        </p:nvSpPr>
        <p:spPr>
          <a:xfrm>
            <a:off x="640080" y="1508760"/>
            <a:ext cx="5349240" cy="3566160"/>
          </a:xfrm>
          <a:prstGeom prst="roundRect">
            <a:avLst>
              <a:gd name="adj" fmla="val 3590"/>
            </a:avLst>
          </a:prstGeom>
          <a:solidFill>
            <a:schemeClr val="tx2"/>
          </a:solidFill>
          <a:ln/>
        </p:spPr>
      </p:sp>
      <p:sp>
        <p:nvSpPr>
          <p:cNvPr id="4" name="Text 2"/>
          <p:cNvSpPr txBox="1"/>
          <p:nvPr/>
        </p:nvSpPr>
        <p:spPr>
          <a:xfrm>
            <a:off x="914400" y="1645920"/>
            <a:ext cx="4800600" cy="548640"/>
          </a:xfrm>
          <a:prstGeom prst="rect">
            <a:avLst/>
          </a:prstGeom>
          <a:noFill/>
          <a:ln/>
        </p:spPr>
        <p:txBody>
          <a:bodyPr wrap="square" lIns="0" tIns="0" rIns="0" bIns="0" rtlCol="0" anchor="ctr"/>
          <a:lstStyle/>
          <a:p>
            <a:pPr indent="0" marL="0">
              <a:buNone/>
            </a:pPr>
            <a:r>
              <a:rPr lang="en-US" sz="2400" b="1" dirty="0">
                <a:solidFill>
                  <a:schemeClr val="accent2"/>
                </a:solidFill>
              </a:rPr>
              <a:t>Limits</a:t>
            </a:r>
            <a:endParaRPr lang="en-US" sz="2400" dirty="0"/>
          </a:p>
        </p:txBody>
      </p:sp>
      <p:sp>
        <p:nvSpPr>
          <p:cNvPr id="5" name="Text 3"/>
          <p:cNvSpPr txBox="1"/>
          <p:nvPr/>
        </p:nvSpPr>
        <p:spPr>
          <a:xfrm>
            <a:off x="914400" y="2286000"/>
            <a:ext cx="4800600" cy="26517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Most experiments used a single random seed, so gaps below 0.005 are noise.</a:t>
            </a:r>
            <a:endParaRPr lang="en-US" sz="1800" dirty="0"/>
          </a:p>
          <a:p>
            <a:pPr marL="342900" indent="-342900">
              <a:spcAft>
                <a:spcPts val="1200"/>
              </a:spcAft>
              <a:buSzPct val="100000"/>
              <a:buChar char="•"/>
            </a:pPr>
            <a:r>
              <a:rPr lang="en-US" sz="1800" dirty="0">
                <a:solidFill>
                  <a:schemeClr val="bg1"/>
                </a:solidFill>
              </a:rPr>
              <a:t>Our held-out test is only a stand-in for the real unseen domain.</a:t>
            </a:r>
            <a:endParaRPr lang="en-US" sz="1800" dirty="0"/>
          </a:p>
          <a:p>
            <a:pPr marL="342900" indent="-342900">
              <a:spcAft>
                <a:spcPts val="1200"/>
              </a:spcAft>
              <a:buSzPct val="100000"/>
              <a:buChar char="•"/>
            </a:pPr>
            <a:r>
              <a:rPr lang="en-US" sz="1800" dirty="0">
                <a:solidFill>
                  <a:schemeClr val="bg1"/>
                </a:solidFill>
              </a:rPr>
              <a:t>Free Colab means about two CPU cores and limited storage.</a:t>
            </a:r>
            <a:endParaRPr lang="en-US" sz="1800" dirty="0"/>
          </a:p>
        </p:txBody>
      </p:sp>
      <p:sp>
        <p:nvSpPr>
          <p:cNvPr id="6" name="Next steps panel"/>
          <p:cNvSpPr/>
          <p:nvPr/>
        </p:nvSpPr>
        <p:spPr>
          <a:xfrm>
            <a:off x="6172200" y="1508760"/>
            <a:ext cx="5349240" cy="3566160"/>
          </a:xfrm>
          <a:prstGeom prst="roundRect">
            <a:avLst>
              <a:gd name="adj" fmla="val 3590"/>
            </a:avLst>
          </a:prstGeom>
          <a:solidFill>
            <a:schemeClr val="tx2"/>
          </a:solidFill>
          <a:ln/>
        </p:spPr>
      </p:sp>
      <p:sp>
        <p:nvSpPr>
          <p:cNvPr id="7" name="Text 5"/>
          <p:cNvSpPr txBox="1"/>
          <p:nvPr/>
        </p:nvSpPr>
        <p:spPr>
          <a:xfrm>
            <a:off x="6446520" y="1645920"/>
            <a:ext cx="4800600" cy="548640"/>
          </a:xfrm>
          <a:prstGeom prst="rect">
            <a:avLst/>
          </a:prstGeom>
          <a:noFill/>
          <a:ln/>
        </p:spPr>
        <p:txBody>
          <a:bodyPr wrap="square" lIns="0" tIns="0" rIns="0" bIns="0" rtlCol="0" anchor="ctr"/>
          <a:lstStyle/>
          <a:p>
            <a:pPr indent="0" marL="0">
              <a:buNone/>
            </a:pPr>
            <a:r>
              <a:rPr lang="en-US" sz="2400" b="1" dirty="0">
                <a:solidFill>
                  <a:schemeClr val="accent2"/>
                </a:solidFill>
              </a:rPr>
              <a:t>Next steps</a:t>
            </a:r>
            <a:endParaRPr lang="en-US" sz="2400" dirty="0"/>
          </a:p>
        </p:txBody>
      </p:sp>
      <p:sp>
        <p:nvSpPr>
          <p:cNvPr id="8" name="Text 6"/>
          <p:cNvSpPr txBox="1"/>
          <p:nvPr/>
        </p:nvSpPr>
        <p:spPr>
          <a:xfrm>
            <a:off x="6446520" y="2286000"/>
            <a:ext cx="4800600" cy="26517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Longer training and more seeds for ViT-L/14, which only got 3 to 4 epochs on a T4.</a:t>
            </a:r>
            <a:endParaRPr lang="en-US" sz="1800" dirty="0"/>
          </a:p>
          <a:p>
            <a:pPr marL="342900" indent="-342900">
              <a:spcAft>
                <a:spcPts val="1200"/>
              </a:spcAft>
              <a:buSzPct val="100000"/>
              <a:buChar char="•"/>
            </a:pPr>
            <a:r>
              <a:rPr lang="en-US" sz="1800" dirty="0">
                <a:solidFill>
                  <a:schemeClr val="bg1"/>
                </a:solidFill>
              </a:rPr>
              <a:t>Stronger blur and low-resolution augmentation for the weakest dataset.</a:t>
            </a:r>
            <a:endParaRPr lang="en-US" sz="1800" dirty="0"/>
          </a:p>
          <a:p>
            <a:pPr marL="342900" indent="-342900">
              <a:spcAft>
                <a:spcPts val="1200"/>
              </a:spcAft>
              <a:buSzPct val="100000"/>
              <a:buChar char="•"/>
            </a:pPr>
            <a:r>
              <a:rPr lang="en-US" sz="1800" dirty="0">
                <a:solidFill>
                  <a:schemeClr val="bg1"/>
                </a:solidFill>
              </a:rPr>
              <a:t>CLIP text prompts as attribute classifiers.</a:t>
            </a:r>
            <a:endParaRPr lang="en-US" sz="1800" dirty="0"/>
          </a:p>
        </p:txBody>
      </p:sp>
      <p:sp>
        <p:nvSpPr>
          <p:cNvPr id="9" name="Text 7"/>
          <p:cNvSpPr txBox="1"/>
          <p:nvPr/>
        </p:nvSpPr>
        <p:spPr>
          <a:xfrm>
            <a:off x="640080" y="5440680"/>
            <a:ext cx="10881360" cy="822960"/>
          </a:xfrm>
          <a:prstGeom prst="rect">
            <a:avLst/>
          </a:prstGeom>
          <a:noFill/>
          <a:ln/>
        </p:spPr>
        <p:txBody>
          <a:bodyPr wrap="square" lIns="0" tIns="0" rIns="0" bIns="0" rtlCol="0" anchor="ctr"/>
          <a:lstStyle/>
          <a:p>
            <a:pPr indent="0" marL="0">
              <a:buNone/>
            </a:pPr>
            <a:r>
              <a:rPr lang="en-US" sz="3600" b="1" dirty="0">
                <a:solidFill>
                  <a:schemeClr val="accent2"/>
                </a:solidFill>
              </a:rPr>
              <a:t>Thank you. Questions?</a:t>
            </a:r>
            <a:endParaRPr lang="en-US" sz="3600" dirty="0"/>
          </a:p>
        </p:txBody>
      </p:sp>
    </p:spTree>
  </p:cSld>
  <p:clrMapOvr>
    <a:masterClrMapping/>
  </p:clrMapOvr>
</p:sld>
</file>

<file path=ppt/theme/theme1.xml><?xml version="1.0" encoding="utf-8"?>
<a:theme xmlns:a="http://schemas.openxmlformats.org/drawingml/2006/main" name="UPAR Night Watch">
  <a:themeElements>
    <a:clrScheme name="UPAR Night Watch">
      <a:dk1>
        <a:srgbClr val="0B1F3A"/>
      </a:dk1>
      <a:lt1>
        <a:srgbClr val="FFFFFF"/>
      </a:lt1>
      <a:dk2>
        <a:srgbClr val="3A4A5E"/>
      </a:dk2>
      <a:lt2>
        <a:srgbClr val="EAF2F4"/>
      </a:lt2>
      <a:accent1>
        <a:srgbClr val="0E7C86"/>
      </a:accent1>
      <a:accent2>
        <a:srgbClr val="F2A33A"/>
      </a:accent2>
      <a:accent3>
        <a:srgbClr val="7FB7BE"/>
      </a:accent3>
      <a:accent4>
        <a:srgbClr val="C8D6DC"/>
      </a:accent4>
      <a:accent5>
        <a:srgbClr val="D9534F"/>
      </a:accent5>
      <a:accent6>
        <a:srgbClr val="5B6B7F"/>
      </a:accent6>
      <a:hlink>
        <a:srgbClr val="0E7C86"/>
      </a:hlink>
      <a:folHlink>
        <a:srgbClr val="5B6B7F"/>
      </a:folHlink>
    </a:clrScheme>
    <a:fontScheme name="UPAR Night W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UPAR Challenge 2027, Track 1: Pedestrian Attribute Recognition</dc:title>
  <dc:subject>PptxGenJS Presentation</dc:subject>
  <dc:creator>Muhammad Umar, Raghib Rizwan Rabbani, Syed Fahad Faheem Shah</dc:creator>
  <cp:lastModifiedBy>Muhammad Umar, Raghib Rizwan Rabbani, Syed Fahad Faheem Shah</cp:lastModifiedBy>
  <cp:revision>1</cp:revision>
  <dcterms:created xsi:type="dcterms:W3CDTF">2026-10-26T18:46:42Z</dcterms:created>
  <dcterms:modified xsi:type="dcterms:W3CDTF">2026-10-26T18:46:42Z</dcterms:modified>
</cp:coreProperties>
</file>